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83"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753600" cy="7315200"/>
  <p:notesSz cx="6858000" cy="9144000"/>
  <p:embeddedFontLst>
    <p:embeddedFont>
      <p:font typeface="Calibri (MS)" panose="020B0604020202020204" charset="0"/>
      <p:regular r:id="rId29"/>
    </p:embeddedFont>
    <p:embeddedFont>
      <p:font typeface="Calibri (MS) Bold" panose="020B0604020202020204" charset="0"/>
      <p:regular r:id="rId30"/>
    </p:embeddedFont>
    <p:embeddedFont>
      <p:font typeface="Times New Roman Bold" panose="02020803070505020304" pitchFamily="18" charset="0"/>
      <p:regular r:id="rId31"/>
      <p:bold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3" d="100"/>
          <a:sy n="73" d="100"/>
        </p:scale>
        <p:origin x="159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www.arterys.com/" TargetMode="External"/><Relationship Id="rId2" Type="http://schemas.openxmlformats.org/officeDocument/2006/relationships/hyperlink" Target="https://pyradiomics.readthedocs.io/"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1520" y="1706880"/>
            <a:ext cx="8290560" cy="812800"/>
          </a:xfrm>
        </p:spPr>
        <p:txBody>
          <a:bodyPr>
            <a:noAutofit/>
          </a:bodyPr>
          <a:lstStyle/>
          <a:p>
            <a:r>
              <a:rPr lang="en-US" sz="2987" b="1" dirty="0">
                <a:solidFill>
                  <a:srgbClr val="0000CC"/>
                </a:solidFill>
                <a:latin typeface="Times New Roman" panose="02020603050405020304" pitchFamily="18" charset="0"/>
                <a:cs typeface="Times New Roman" panose="02020603050405020304" pitchFamily="18" charset="0"/>
              </a:rPr>
              <a:t>DEPARTMENT OF COMPUTER SCIENCE &amp; ENGINEERING (DATA SCIENCE)</a:t>
            </a:r>
          </a:p>
        </p:txBody>
      </p:sp>
      <p:sp>
        <p:nvSpPr>
          <p:cNvPr id="3" name="Subtitle 2"/>
          <p:cNvSpPr>
            <a:spLocks noGrp="1"/>
          </p:cNvSpPr>
          <p:nvPr>
            <p:ph type="subTitle" idx="1"/>
          </p:nvPr>
        </p:nvSpPr>
        <p:spPr>
          <a:xfrm>
            <a:off x="805444" y="3000805"/>
            <a:ext cx="7965440" cy="1869440"/>
          </a:xfrm>
        </p:spPr>
        <p:txBody>
          <a:bodyPr>
            <a:normAutofit/>
          </a:bodyPr>
          <a:lstStyle/>
          <a:p>
            <a:r>
              <a:rPr lang="en-US" sz="2987" dirty="0">
                <a:solidFill>
                  <a:schemeClr val="accent2">
                    <a:lumMod val="50000"/>
                  </a:schemeClr>
                </a:solidFill>
              </a:rPr>
              <a:t>“</a:t>
            </a:r>
            <a:r>
              <a:rPr lang="en-US" sz="2987" b="1" dirty="0">
                <a:solidFill>
                  <a:schemeClr val="accent2">
                    <a:lumMod val="50000"/>
                  </a:schemeClr>
                </a:solidFill>
                <a:latin typeface="Times New Roman" panose="02020603050405020304" pitchFamily="18" charset="0"/>
                <a:cs typeface="Times New Roman" panose="02020603050405020304" pitchFamily="18" charset="0"/>
              </a:rPr>
              <a:t>Medical Image Analysis for Radiology</a:t>
            </a:r>
            <a:r>
              <a:rPr lang="en-US" sz="2987" dirty="0">
                <a:solidFill>
                  <a:schemeClr val="accent2">
                    <a:lumMod val="50000"/>
                  </a:schemeClr>
                </a:solidFill>
                <a:latin typeface="Times New Roman" panose="02020603050405020304" pitchFamily="18" charset="0"/>
                <a:cs typeface="Times New Roman" panose="02020603050405020304" pitchFamily="18" charset="0"/>
              </a:rPr>
              <a:t>”</a:t>
            </a:r>
          </a:p>
          <a:p>
            <a:r>
              <a:rPr lang="en-US" sz="2133" dirty="0">
                <a:solidFill>
                  <a:schemeClr val="accent2">
                    <a:lumMod val="50000"/>
                  </a:schemeClr>
                </a:solidFill>
                <a:latin typeface="Times New Roman" panose="02020603050405020304" pitchFamily="18" charset="0"/>
                <a:cs typeface="Times New Roman" panose="02020603050405020304" pitchFamily="18" charset="0"/>
              </a:rPr>
              <a:t>COURSE NAME : MINI PROJECT-II</a:t>
            </a:r>
          </a:p>
          <a:p>
            <a:r>
              <a:rPr lang="en-US" sz="2133" dirty="0">
                <a:solidFill>
                  <a:schemeClr val="accent2">
                    <a:lumMod val="50000"/>
                  </a:schemeClr>
                </a:solidFill>
                <a:latin typeface="Times New Roman" panose="02020603050405020304" pitchFamily="18" charset="0"/>
                <a:cs typeface="Times New Roman" panose="02020603050405020304" pitchFamily="18" charset="0"/>
              </a:rPr>
              <a:t>COURSE CODE:22CDS58</a:t>
            </a:r>
          </a:p>
        </p:txBody>
      </p:sp>
      <p:sp>
        <p:nvSpPr>
          <p:cNvPr id="4" name="Subtitle 2"/>
          <p:cNvSpPr txBox="1">
            <a:spLocks/>
          </p:cNvSpPr>
          <p:nvPr/>
        </p:nvSpPr>
        <p:spPr>
          <a:xfrm>
            <a:off x="314633" y="4795520"/>
            <a:ext cx="4876800" cy="1950720"/>
          </a:xfrm>
          <a:prstGeom prst="rect">
            <a:avLst/>
          </a:prstGeom>
        </p:spPr>
        <p:txBody>
          <a:bodyPr vert="horz" lIns="97536" tIns="48768" rIns="97536" bIns="48768" rtlCol="0">
            <a:normAutofit/>
          </a:bodyPr>
          <a:lstStyle/>
          <a:p>
            <a:pPr defTabSz="975390">
              <a:spcBef>
                <a:spcPct val="20000"/>
              </a:spcBef>
              <a:defRPr/>
            </a:pPr>
            <a:r>
              <a:rPr lang="en-US" sz="2560" dirty="0">
                <a:latin typeface="Times New Roman" panose="02020603050405020304" pitchFamily="18" charset="0"/>
                <a:cs typeface="Times New Roman" panose="02020603050405020304" pitchFamily="18" charset="0"/>
              </a:rPr>
              <a:t>Presentation by,</a:t>
            </a:r>
          </a:p>
          <a:p>
            <a:pPr defTabSz="975390">
              <a:spcBef>
                <a:spcPct val="20000"/>
              </a:spcBef>
              <a:defRPr/>
            </a:pPr>
            <a:r>
              <a:rPr lang="en-US" sz="2453" dirty="0">
                <a:solidFill>
                  <a:schemeClr val="accent2">
                    <a:lumMod val="50000"/>
                  </a:schemeClr>
                </a:solidFill>
                <a:latin typeface="Times New Roman" panose="02020603050405020304" pitchFamily="18" charset="0"/>
                <a:cs typeface="Times New Roman" panose="02020603050405020304" pitchFamily="18" charset="0"/>
              </a:rPr>
              <a:t>Kasi Ramji Y -NH23CD071</a:t>
            </a:r>
          </a:p>
          <a:p>
            <a:pPr defTabSz="975390">
              <a:spcBef>
                <a:spcPct val="20000"/>
              </a:spcBef>
              <a:defRPr/>
            </a:pPr>
            <a:r>
              <a:rPr lang="en-US" sz="2453" dirty="0">
                <a:solidFill>
                  <a:schemeClr val="accent2">
                    <a:lumMod val="50000"/>
                  </a:schemeClr>
                </a:solidFill>
                <a:latin typeface="Times New Roman" panose="02020603050405020304" pitchFamily="18" charset="0"/>
                <a:cs typeface="Times New Roman" panose="02020603050405020304" pitchFamily="18" charset="0"/>
              </a:rPr>
              <a:t>Ramcharan Madineni 1NH23CD083</a:t>
            </a:r>
          </a:p>
          <a:p>
            <a:pPr defTabSz="975390">
              <a:spcBef>
                <a:spcPct val="20000"/>
              </a:spcBef>
              <a:defRPr/>
            </a:pPr>
            <a:endParaRPr lang="en-US" sz="2560"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5" name="Subtitle 2"/>
          <p:cNvSpPr txBox="1">
            <a:spLocks/>
          </p:cNvSpPr>
          <p:nvPr/>
        </p:nvSpPr>
        <p:spPr>
          <a:xfrm>
            <a:off x="5634249" y="4829605"/>
            <a:ext cx="4145280" cy="2357120"/>
          </a:xfrm>
          <a:prstGeom prst="rect">
            <a:avLst/>
          </a:prstGeom>
        </p:spPr>
        <p:txBody>
          <a:bodyPr vert="horz" lIns="97536" tIns="48768" rIns="97536" bIns="48768" rtlCol="0">
            <a:normAutofit/>
          </a:bodyPr>
          <a:lstStyle/>
          <a:p>
            <a:pPr defTabSz="975390">
              <a:spcBef>
                <a:spcPct val="20000"/>
              </a:spcBef>
              <a:defRPr/>
            </a:pPr>
            <a:r>
              <a:rPr lang="en-US" sz="2560" dirty="0">
                <a:latin typeface="Times New Roman" panose="02020603050405020304" pitchFamily="18" charset="0"/>
                <a:cs typeface="Times New Roman" panose="02020603050405020304" pitchFamily="18" charset="0"/>
              </a:rPr>
              <a:t>Under the Guidance of ,</a:t>
            </a:r>
          </a:p>
          <a:p>
            <a:pPr defTabSz="975390">
              <a:spcBef>
                <a:spcPct val="20000"/>
              </a:spcBef>
              <a:defRPr/>
            </a:pPr>
            <a:r>
              <a:rPr lang="en-US" sz="2560" dirty="0">
                <a:solidFill>
                  <a:schemeClr val="accent2">
                    <a:lumMod val="50000"/>
                  </a:schemeClr>
                </a:solidFill>
                <a:latin typeface="Times New Roman" panose="02020603050405020304" pitchFamily="18" charset="0"/>
                <a:cs typeface="Times New Roman" panose="02020603050405020304" pitchFamily="18" charset="0"/>
              </a:rPr>
              <a:t>Mrs. Pramila S</a:t>
            </a:r>
          </a:p>
          <a:p>
            <a:pPr defTabSz="975390">
              <a:spcBef>
                <a:spcPct val="20000"/>
              </a:spcBef>
              <a:defRPr/>
            </a:pPr>
            <a:r>
              <a:rPr lang="en-US" sz="2560" dirty="0">
                <a:solidFill>
                  <a:schemeClr val="accent2">
                    <a:lumMod val="50000"/>
                  </a:schemeClr>
                </a:solidFill>
                <a:latin typeface="Times New Roman" panose="02020603050405020304" pitchFamily="18" charset="0"/>
                <a:cs typeface="Times New Roman" panose="02020603050405020304" pitchFamily="18" charset="0"/>
              </a:rPr>
              <a:t>Assistant Professor, CSE(DS)</a:t>
            </a:r>
          </a:p>
        </p:txBody>
      </p:sp>
      <p:pic>
        <p:nvPicPr>
          <p:cNvPr id="7" name="Picture 6">
            <a:extLst>
              <a:ext uri="{FF2B5EF4-FFF2-40B4-BE49-F238E27FC236}">
                <a16:creationId xmlns:a16="http://schemas.microsoft.com/office/drawing/2014/main" id="{74054575-D32E-4E7F-92DE-41609BD42A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69440" y="250671"/>
            <a:ext cx="5837449" cy="13749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9120" y="1059603"/>
            <a:ext cx="7329048" cy="5720504"/>
          </a:xfrm>
          <a:prstGeom prst="rect">
            <a:avLst/>
          </a:prstGeom>
        </p:spPr>
        <p:txBody>
          <a:bodyPr lIns="0" tIns="0" rIns="0" bIns="0" rtlCol="0" anchor="t">
            <a:spAutoFit/>
          </a:bodyPr>
          <a:lstStyle/>
          <a:p>
            <a:pPr marL="374557" lvl="1" indent="-187279" algn="l">
              <a:lnSpc>
                <a:spcPts val="3492"/>
              </a:lnSpc>
              <a:buFont typeface="Arial"/>
              <a:buChar char="•"/>
            </a:pPr>
            <a:r>
              <a:rPr lang="en-US" sz="2910">
                <a:solidFill>
                  <a:srgbClr val="000000"/>
                </a:solidFill>
                <a:latin typeface="Times New Roman"/>
                <a:ea typeface="Times New Roman"/>
                <a:cs typeface="Times New Roman"/>
                <a:sym typeface="Times New Roman"/>
              </a:rPr>
              <a:t>Introduction</a:t>
            </a:r>
          </a:p>
          <a:p>
            <a:pPr marL="374557" lvl="1" indent="-187279" algn="l">
              <a:lnSpc>
                <a:spcPts val="3492"/>
              </a:lnSpc>
              <a:buFont typeface="Arial"/>
              <a:buChar char="•"/>
            </a:pPr>
            <a:r>
              <a:rPr lang="en-US" sz="2910">
                <a:solidFill>
                  <a:srgbClr val="000000"/>
                </a:solidFill>
                <a:latin typeface="Times New Roman"/>
                <a:ea typeface="Times New Roman"/>
                <a:cs typeface="Times New Roman"/>
                <a:sym typeface="Times New Roman"/>
              </a:rPr>
              <a:t>Existing system</a:t>
            </a:r>
          </a:p>
          <a:p>
            <a:pPr marL="374557" lvl="1" indent="-187279" algn="l">
              <a:lnSpc>
                <a:spcPts val="3492"/>
              </a:lnSpc>
              <a:buFont typeface="Arial"/>
              <a:buChar char="•"/>
            </a:pPr>
            <a:r>
              <a:rPr lang="en-US" sz="2910">
                <a:solidFill>
                  <a:srgbClr val="000000"/>
                </a:solidFill>
                <a:latin typeface="Times New Roman"/>
                <a:ea typeface="Times New Roman"/>
                <a:cs typeface="Times New Roman"/>
                <a:sym typeface="Times New Roman"/>
              </a:rPr>
              <a:t>Limitations of Existing System</a:t>
            </a:r>
          </a:p>
          <a:p>
            <a:pPr marL="374557" lvl="1" indent="-187279" algn="l">
              <a:lnSpc>
                <a:spcPts val="3492"/>
              </a:lnSpc>
              <a:buFont typeface="Arial"/>
              <a:buChar char="•"/>
            </a:pPr>
            <a:r>
              <a:rPr lang="en-US" sz="2910">
                <a:solidFill>
                  <a:srgbClr val="000000"/>
                </a:solidFill>
                <a:latin typeface="Times New Roman"/>
                <a:ea typeface="Times New Roman"/>
                <a:cs typeface="Times New Roman"/>
                <a:sym typeface="Times New Roman"/>
              </a:rPr>
              <a:t>Problem Definition</a:t>
            </a:r>
          </a:p>
          <a:p>
            <a:pPr marL="374557" lvl="1" indent="-187279" algn="l">
              <a:lnSpc>
                <a:spcPts val="3492"/>
              </a:lnSpc>
              <a:buFont typeface="Arial"/>
              <a:buChar char="•"/>
            </a:pPr>
            <a:r>
              <a:rPr lang="en-US" sz="2910">
                <a:solidFill>
                  <a:srgbClr val="000000"/>
                </a:solidFill>
                <a:latin typeface="Times New Roman"/>
                <a:ea typeface="Times New Roman"/>
                <a:cs typeface="Times New Roman"/>
                <a:sym typeface="Times New Roman"/>
              </a:rPr>
              <a:t>Proposed system</a:t>
            </a:r>
          </a:p>
          <a:p>
            <a:pPr marL="374557" lvl="1" indent="-187279" algn="l">
              <a:lnSpc>
                <a:spcPts val="3492"/>
              </a:lnSpc>
              <a:buFont typeface="Arial"/>
              <a:buChar char="•"/>
            </a:pPr>
            <a:r>
              <a:rPr lang="en-US" sz="2910">
                <a:solidFill>
                  <a:srgbClr val="000000"/>
                </a:solidFill>
                <a:latin typeface="Times New Roman"/>
                <a:ea typeface="Times New Roman"/>
                <a:cs typeface="Times New Roman"/>
                <a:sym typeface="Times New Roman"/>
              </a:rPr>
              <a:t>Objectives</a:t>
            </a:r>
          </a:p>
          <a:p>
            <a:pPr marL="374557" lvl="1" indent="-187279" algn="l">
              <a:lnSpc>
                <a:spcPts val="3492"/>
              </a:lnSpc>
              <a:buFont typeface="Arial"/>
              <a:buChar char="•"/>
            </a:pPr>
            <a:r>
              <a:rPr lang="en-US" sz="2910">
                <a:solidFill>
                  <a:srgbClr val="000000"/>
                </a:solidFill>
                <a:latin typeface="Times New Roman"/>
                <a:ea typeface="Times New Roman"/>
                <a:cs typeface="Times New Roman"/>
                <a:sym typeface="Times New Roman"/>
              </a:rPr>
              <a:t>Design modules</a:t>
            </a:r>
          </a:p>
          <a:p>
            <a:pPr marL="374557" lvl="1" indent="-187279" algn="l">
              <a:lnSpc>
                <a:spcPts val="3492"/>
              </a:lnSpc>
              <a:buFont typeface="Arial"/>
              <a:buChar char="•"/>
            </a:pPr>
            <a:r>
              <a:rPr lang="en-US" sz="2910">
                <a:solidFill>
                  <a:srgbClr val="000000"/>
                </a:solidFill>
                <a:latin typeface="Times New Roman"/>
                <a:ea typeface="Times New Roman"/>
                <a:cs typeface="Times New Roman"/>
                <a:sym typeface="Times New Roman"/>
              </a:rPr>
              <a:t>Flow chart</a:t>
            </a:r>
          </a:p>
          <a:p>
            <a:pPr marL="374434" lvl="1" indent="-187217" algn="l">
              <a:lnSpc>
                <a:spcPts val="3492"/>
              </a:lnSpc>
              <a:buFont typeface="Arial"/>
              <a:buChar char="•"/>
            </a:pPr>
            <a:r>
              <a:rPr lang="en-US" sz="2910">
                <a:solidFill>
                  <a:srgbClr val="000000"/>
                </a:solidFill>
                <a:latin typeface="Times New Roman"/>
                <a:ea typeface="Times New Roman"/>
                <a:cs typeface="Times New Roman"/>
                <a:sym typeface="Times New Roman"/>
              </a:rPr>
              <a:t>Implementation</a:t>
            </a:r>
          </a:p>
          <a:p>
            <a:pPr marL="374434" lvl="1" indent="-187217" algn="l">
              <a:lnSpc>
                <a:spcPts val="3492"/>
              </a:lnSpc>
              <a:buFont typeface="Arial"/>
              <a:buChar char="•"/>
            </a:pPr>
            <a:r>
              <a:rPr lang="en-US" sz="2910">
                <a:solidFill>
                  <a:srgbClr val="000000"/>
                </a:solidFill>
                <a:latin typeface="Times New Roman"/>
                <a:ea typeface="Times New Roman"/>
                <a:cs typeface="Times New Roman"/>
                <a:sym typeface="Times New Roman"/>
              </a:rPr>
              <a:t>Algorithm</a:t>
            </a:r>
          </a:p>
          <a:p>
            <a:pPr marL="374434" lvl="1" indent="-187217" algn="l">
              <a:lnSpc>
                <a:spcPts val="3492"/>
              </a:lnSpc>
              <a:buFont typeface="Arial"/>
              <a:buChar char="•"/>
            </a:pPr>
            <a:r>
              <a:rPr lang="en-US" sz="2910">
                <a:solidFill>
                  <a:srgbClr val="000000"/>
                </a:solidFill>
                <a:latin typeface="Times New Roman"/>
                <a:ea typeface="Times New Roman"/>
                <a:cs typeface="Times New Roman"/>
                <a:sym typeface="Times New Roman"/>
              </a:rPr>
              <a:t>Result Snapshot</a:t>
            </a:r>
          </a:p>
          <a:p>
            <a:pPr marL="374434" lvl="1" indent="-187217" algn="l">
              <a:lnSpc>
                <a:spcPts val="3492"/>
              </a:lnSpc>
              <a:buFont typeface="Arial"/>
              <a:buChar char="•"/>
            </a:pPr>
            <a:r>
              <a:rPr lang="en-US" sz="2910">
                <a:solidFill>
                  <a:srgbClr val="000000"/>
                </a:solidFill>
                <a:latin typeface="Times New Roman"/>
                <a:ea typeface="Times New Roman"/>
                <a:cs typeface="Times New Roman"/>
                <a:sym typeface="Times New Roman"/>
              </a:rPr>
              <a:t>Result Analysis</a:t>
            </a:r>
          </a:p>
          <a:p>
            <a:pPr marL="374434" lvl="1" indent="-187217" algn="l">
              <a:lnSpc>
                <a:spcPts val="3492"/>
              </a:lnSpc>
              <a:buFont typeface="Arial"/>
              <a:buChar char="•"/>
            </a:pPr>
            <a:r>
              <a:rPr lang="en-US" sz="2910">
                <a:solidFill>
                  <a:srgbClr val="000000"/>
                </a:solidFill>
                <a:latin typeface="Times New Roman"/>
                <a:ea typeface="Times New Roman"/>
                <a:cs typeface="Times New Roman"/>
                <a:sym typeface="Times New Roman"/>
              </a:rPr>
              <a:t>Conclusion &amp; Future Work</a:t>
            </a:r>
          </a:p>
        </p:txBody>
      </p:sp>
      <p:grpSp>
        <p:nvGrpSpPr>
          <p:cNvPr id="3" name="Group 3"/>
          <p:cNvGrpSpPr/>
          <p:nvPr/>
        </p:nvGrpSpPr>
        <p:grpSpPr>
          <a:xfrm>
            <a:off x="487680" y="6780107"/>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5" name="TextBox 5"/>
            <p:cNvSpPr txBox="1"/>
            <p:nvPr/>
          </p:nvSpPr>
          <p:spPr>
            <a:xfrm>
              <a:off x="0" y="-28575"/>
              <a:ext cx="3034453" cy="547864"/>
            </a:xfrm>
            <a:prstGeom prst="rect">
              <a:avLst/>
            </a:prstGeom>
          </p:spPr>
          <p:txBody>
            <a:bodyPr lIns="0" tIns="0" rIns="0" bIns="0" rtlCol="0" anchor="ctr"/>
            <a:lstStyle/>
            <a:p>
              <a:pPr algn="l">
                <a:lnSpc>
                  <a:spcPts val="1535"/>
                </a:lnSpc>
              </a:pPr>
              <a:r>
                <a:rPr lang="en-US" sz="1279">
                  <a:solidFill>
                    <a:srgbClr val="898989"/>
                  </a:solidFill>
                  <a:latin typeface="Calibri (MS)"/>
                  <a:ea typeface="Calibri (MS)"/>
                  <a:cs typeface="Calibri (MS)"/>
                  <a:sym typeface="Calibri (MS)"/>
                </a:rPr>
                <a:t>24/11/2025</a:t>
              </a:r>
            </a:p>
          </p:txBody>
        </p:sp>
      </p:grpSp>
      <p:grpSp>
        <p:nvGrpSpPr>
          <p:cNvPr id="6" name="Group 6"/>
          <p:cNvGrpSpPr/>
          <p:nvPr/>
        </p:nvGrpSpPr>
        <p:grpSpPr>
          <a:xfrm>
            <a:off x="3332480" y="6780107"/>
            <a:ext cx="3088640" cy="389467"/>
            <a:chOff x="0" y="0"/>
            <a:chExt cx="4118187" cy="519289"/>
          </a:xfrm>
        </p:grpSpPr>
        <p:sp>
          <p:nvSpPr>
            <p:cNvPr id="7" name="Freeform 7"/>
            <p:cNvSpPr/>
            <p:nvPr/>
          </p:nvSpPr>
          <p:spPr>
            <a:xfrm>
              <a:off x="0" y="0"/>
              <a:ext cx="4118187" cy="519289"/>
            </a:xfrm>
            <a:custGeom>
              <a:avLst/>
              <a:gdLst/>
              <a:ahLst/>
              <a:cxnLst/>
              <a:rect l="l" t="t" r="r" b="b"/>
              <a:pathLst>
                <a:path w="4118187" h="519289">
                  <a:moveTo>
                    <a:pt x="0" y="0"/>
                  </a:moveTo>
                  <a:lnTo>
                    <a:pt x="4118187" y="0"/>
                  </a:lnTo>
                  <a:lnTo>
                    <a:pt x="4118187" y="519289"/>
                  </a:lnTo>
                  <a:lnTo>
                    <a:pt x="0" y="519289"/>
                  </a:lnTo>
                  <a:close/>
                </a:path>
              </a:pathLst>
            </a:custGeom>
            <a:solidFill>
              <a:srgbClr val="000000">
                <a:alpha val="0"/>
              </a:srgbClr>
            </a:solidFill>
          </p:spPr>
        </p:sp>
        <p:sp>
          <p:nvSpPr>
            <p:cNvPr id="8" name="TextBox 8"/>
            <p:cNvSpPr txBox="1"/>
            <p:nvPr/>
          </p:nvSpPr>
          <p:spPr>
            <a:xfrm>
              <a:off x="0" y="-28575"/>
              <a:ext cx="4118187" cy="547864"/>
            </a:xfrm>
            <a:prstGeom prst="rect">
              <a:avLst/>
            </a:prstGeom>
          </p:spPr>
          <p:txBody>
            <a:bodyPr lIns="0" tIns="0" rIns="0" bIns="0" rtlCol="0" anchor="ctr"/>
            <a:lstStyle/>
            <a:p>
              <a:pPr algn="ctr">
                <a:lnSpc>
                  <a:spcPts val="1535"/>
                </a:lnSpc>
              </a:pPr>
              <a:r>
                <a:rPr lang="en-US" sz="1279">
                  <a:solidFill>
                    <a:srgbClr val="898989"/>
                  </a:solidFill>
                  <a:latin typeface="Calibri (MS)"/>
                  <a:ea typeface="Calibri (MS)"/>
                  <a:cs typeface="Calibri (MS)"/>
                  <a:sym typeface="Calibri (MS)"/>
                </a:rPr>
                <a:t>Mini Project -22CDS58</a:t>
              </a:r>
            </a:p>
          </p:txBody>
        </p:sp>
      </p:grpSp>
      <p:grpSp>
        <p:nvGrpSpPr>
          <p:cNvPr id="9" name="Group 9"/>
          <p:cNvGrpSpPr/>
          <p:nvPr/>
        </p:nvGrpSpPr>
        <p:grpSpPr>
          <a:xfrm>
            <a:off x="6990080" y="6780107"/>
            <a:ext cx="2275840" cy="389467"/>
            <a:chOff x="0" y="0"/>
            <a:chExt cx="3034453" cy="519289"/>
          </a:xfrm>
        </p:grpSpPr>
        <p:sp>
          <p:nvSpPr>
            <p:cNvPr id="10" name="Freeform 10"/>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11" name="TextBox 11"/>
            <p:cNvSpPr txBox="1"/>
            <p:nvPr/>
          </p:nvSpPr>
          <p:spPr>
            <a:xfrm>
              <a:off x="0" y="-28575"/>
              <a:ext cx="3034453" cy="547864"/>
            </a:xfrm>
            <a:prstGeom prst="rect">
              <a:avLst/>
            </a:prstGeom>
          </p:spPr>
          <p:txBody>
            <a:bodyPr lIns="0" tIns="0" rIns="0" bIns="0" rtlCol="0" anchor="ctr"/>
            <a:lstStyle/>
            <a:p>
              <a:pPr algn="r">
                <a:lnSpc>
                  <a:spcPts val="1535"/>
                </a:lnSpc>
              </a:pPr>
              <a:r>
                <a:rPr lang="en-US" sz="1279">
                  <a:solidFill>
                    <a:srgbClr val="898989"/>
                  </a:solidFill>
                  <a:latin typeface="Calibri (MS)"/>
                  <a:ea typeface="Calibri (MS)"/>
                  <a:cs typeface="Calibri (MS)"/>
                  <a:sym typeface="Calibri (MS)"/>
                </a:rPr>
                <a:t>2</a:t>
              </a:r>
            </a:p>
          </p:txBody>
        </p:sp>
      </p:grpSp>
      <p:grpSp>
        <p:nvGrpSpPr>
          <p:cNvPr id="12" name="Group 12"/>
          <p:cNvGrpSpPr/>
          <p:nvPr/>
        </p:nvGrpSpPr>
        <p:grpSpPr>
          <a:xfrm>
            <a:off x="487680" y="243840"/>
            <a:ext cx="8778240" cy="601133"/>
            <a:chOff x="0" y="0"/>
            <a:chExt cx="11704320" cy="801510"/>
          </a:xfrm>
        </p:grpSpPr>
        <p:sp>
          <p:nvSpPr>
            <p:cNvPr id="13" name="Freeform 13"/>
            <p:cNvSpPr/>
            <p:nvPr/>
          </p:nvSpPr>
          <p:spPr>
            <a:xfrm>
              <a:off x="0" y="0"/>
              <a:ext cx="11704320" cy="801510"/>
            </a:xfrm>
            <a:custGeom>
              <a:avLst/>
              <a:gdLst/>
              <a:ahLst/>
              <a:cxnLst/>
              <a:rect l="l" t="t" r="r" b="b"/>
              <a:pathLst>
                <a:path w="11704320" h="801510">
                  <a:moveTo>
                    <a:pt x="0" y="0"/>
                  </a:moveTo>
                  <a:lnTo>
                    <a:pt x="11704320" y="0"/>
                  </a:lnTo>
                  <a:lnTo>
                    <a:pt x="11704320" y="801510"/>
                  </a:lnTo>
                  <a:lnTo>
                    <a:pt x="0" y="801510"/>
                  </a:lnTo>
                  <a:close/>
                </a:path>
              </a:pathLst>
            </a:custGeom>
            <a:solidFill>
              <a:srgbClr val="000000">
                <a:alpha val="0"/>
              </a:srgbClr>
            </a:solidFill>
          </p:spPr>
        </p:sp>
        <p:sp>
          <p:nvSpPr>
            <p:cNvPr id="14" name="TextBox 14"/>
            <p:cNvSpPr txBox="1"/>
            <p:nvPr/>
          </p:nvSpPr>
          <p:spPr>
            <a:xfrm>
              <a:off x="0" y="-19050"/>
              <a:ext cx="11704320" cy="820560"/>
            </a:xfrm>
            <a:prstGeom prst="rect">
              <a:avLst/>
            </a:prstGeom>
          </p:spPr>
          <p:txBody>
            <a:bodyPr lIns="0" tIns="0" rIns="0" bIns="0" rtlCol="0" anchor="ctr"/>
            <a:lstStyle/>
            <a:p>
              <a:pPr algn="ctr">
                <a:lnSpc>
                  <a:spcPts val="5068"/>
                </a:lnSpc>
              </a:pPr>
              <a:r>
                <a:rPr lang="en-US" sz="4223">
                  <a:solidFill>
                    <a:srgbClr val="FF0000"/>
                  </a:solidFill>
                  <a:latin typeface="Times New Roman"/>
                  <a:ea typeface="Times New Roman"/>
                  <a:cs typeface="Times New Roman"/>
                  <a:sym typeface="Times New Roman"/>
                </a:rPr>
                <a:t>Agenda</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19050"/>
              <a:ext cx="11704320" cy="1644650"/>
            </a:xfrm>
            <a:prstGeom prst="rect">
              <a:avLst/>
            </a:prstGeom>
          </p:spPr>
          <p:txBody>
            <a:bodyPr lIns="0" tIns="0" rIns="0" bIns="0" rtlCol="0" anchor="ctr"/>
            <a:lstStyle/>
            <a:p>
              <a:pPr algn="ctr">
                <a:lnSpc>
                  <a:spcPts val="5120"/>
                </a:lnSpc>
              </a:pPr>
              <a:r>
                <a:rPr lang="en-US" sz="4266">
                  <a:solidFill>
                    <a:srgbClr val="FF0000"/>
                  </a:solidFill>
                  <a:latin typeface="Times New Roman"/>
                  <a:ea typeface="Times New Roman"/>
                  <a:cs typeface="Times New Roman"/>
                  <a:sym typeface="Times New Roman"/>
                </a:rPr>
                <a:t>Introduction </a:t>
              </a:r>
            </a:p>
          </p:txBody>
        </p:sp>
      </p:grpSp>
      <p:sp>
        <p:nvSpPr>
          <p:cNvPr id="5" name="TextBox 5"/>
          <p:cNvSpPr txBox="1"/>
          <p:nvPr/>
        </p:nvSpPr>
        <p:spPr>
          <a:xfrm>
            <a:off x="579120" y="1733550"/>
            <a:ext cx="8595360" cy="5000837"/>
          </a:xfrm>
          <a:prstGeom prst="rect">
            <a:avLst/>
          </a:prstGeom>
        </p:spPr>
        <p:txBody>
          <a:bodyPr lIns="0" tIns="0" rIns="0" bIns="0" rtlCol="0" anchor="t">
            <a:spAutoFit/>
          </a:bodyPr>
          <a:lstStyle/>
          <a:p>
            <a:pPr algn="just">
              <a:lnSpc>
                <a:spcPts val="2047"/>
              </a:lnSpc>
            </a:pPr>
            <a:r>
              <a:rPr lang="en-US" sz="1706" b="1">
                <a:solidFill>
                  <a:srgbClr val="000000"/>
                </a:solidFill>
                <a:latin typeface="Times New Roman Bold"/>
                <a:ea typeface="Times New Roman Bold"/>
                <a:cs typeface="Times New Roman Bold"/>
                <a:sym typeface="Times New Roman Bold"/>
              </a:rPr>
              <a:t>Introduction to the Domain:</a:t>
            </a:r>
          </a:p>
          <a:p>
            <a:pPr algn="just">
              <a:lnSpc>
                <a:spcPts val="2047"/>
              </a:lnSpc>
            </a:pPr>
            <a:r>
              <a:rPr lang="en-US" sz="1706">
                <a:solidFill>
                  <a:srgbClr val="000000"/>
                </a:solidFill>
                <a:latin typeface="Times New Roman"/>
                <a:ea typeface="Times New Roman"/>
                <a:cs typeface="Times New Roman"/>
                <a:sym typeface="Times New Roman"/>
              </a:rPr>
              <a:t>Medical image analysis for radiology is a subfield of computer vision and healthcare data science that focuses on extracting meaningful information from medical imaging modalities such as CT scans, MRI, and ultrasound. In the context of kidney tumors, it involves detecting, classifying, and monitoring tumors to assist radiologists in diagnosis, treatment planning, and tracking disease progression. Data-driven models enable automated tumor segmentation, identification of tumor types (e.g., benign or malignant), and estimation of growth rates over time, improving accuracy and efficiency in medical decision-making.</a:t>
            </a:r>
          </a:p>
          <a:p>
            <a:pPr algn="just">
              <a:lnSpc>
                <a:spcPts val="2047"/>
              </a:lnSpc>
            </a:pPr>
            <a:endParaRPr lang="en-US" sz="1706">
              <a:solidFill>
                <a:srgbClr val="000000"/>
              </a:solidFill>
              <a:latin typeface="Times New Roman"/>
              <a:ea typeface="Times New Roman"/>
              <a:cs typeface="Times New Roman"/>
              <a:sym typeface="Times New Roman"/>
            </a:endParaRPr>
          </a:p>
          <a:p>
            <a:pPr algn="just">
              <a:lnSpc>
                <a:spcPts val="2047"/>
              </a:lnSpc>
            </a:pPr>
            <a:r>
              <a:rPr lang="en-US" sz="1706" b="1">
                <a:solidFill>
                  <a:srgbClr val="000000"/>
                </a:solidFill>
                <a:latin typeface="Times New Roman Bold"/>
                <a:ea typeface="Times New Roman Bold"/>
                <a:cs typeface="Times New Roman Bold"/>
                <a:sym typeface="Times New Roman Bold"/>
              </a:rPr>
              <a:t>Terminologies of the Domain:</a:t>
            </a: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Medical Image Analysis</a:t>
            </a: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Radiology.</a:t>
            </a: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Kidney Tumor Segmentation</a:t>
            </a: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Classification</a:t>
            </a: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Growth Rate Analysis</a:t>
            </a: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Preprocessing</a:t>
            </a: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Post-processing</a:t>
            </a:r>
          </a:p>
        </p:txBody>
      </p:sp>
      <p:grpSp>
        <p:nvGrpSpPr>
          <p:cNvPr id="6" name="Group 6"/>
          <p:cNvGrpSpPr/>
          <p:nvPr/>
        </p:nvGrpSpPr>
        <p:grpSpPr>
          <a:xfrm>
            <a:off x="487680" y="6780107"/>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28575"/>
              <a:ext cx="3034453" cy="547864"/>
            </a:xfrm>
            <a:prstGeom prst="rect">
              <a:avLst/>
            </a:prstGeom>
          </p:spPr>
          <p:txBody>
            <a:bodyPr lIns="0" tIns="0" rIns="0" bIns="0" rtlCol="0" anchor="ctr"/>
            <a:lstStyle/>
            <a:p>
              <a:pPr algn="l">
                <a:lnSpc>
                  <a:spcPts val="1535"/>
                </a:lnSpc>
              </a:pPr>
              <a:r>
                <a:rPr lang="en-US" sz="1279">
                  <a:solidFill>
                    <a:srgbClr val="898989"/>
                  </a:solidFill>
                  <a:latin typeface="Calibri (MS)"/>
                  <a:ea typeface="Calibri (MS)"/>
                  <a:cs typeface="Calibri (MS)"/>
                  <a:sym typeface="Calibri (MS)"/>
                </a:rPr>
                <a:t>24/11/2025</a:t>
              </a:r>
            </a:p>
          </p:txBody>
        </p:sp>
      </p:grpSp>
      <p:grpSp>
        <p:nvGrpSpPr>
          <p:cNvPr id="9" name="Group 9"/>
          <p:cNvGrpSpPr/>
          <p:nvPr/>
        </p:nvGrpSpPr>
        <p:grpSpPr>
          <a:xfrm>
            <a:off x="3332480" y="6780107"/>
            <a:ext cx="3088640" cy="389467"/>
            <a:chOff x="0" y="0"/>
            <a:chExt cx="4118187" cy="519289"/>
          </a:xfrm>
        </p:grpSpPr>
        <p:sp>
          <p:nvSpPr>
            <p:cNvPr id="10" name="Freeform 10"/>
            <p:cNvSpPr/>
            <p:nvPr/>
          </p:nvSpPr>
          <p:spPr>
            <a:xfrm>
              <a:off x="0" y="0"/>
              <a:ext cx="4118187" cy="519289"/>
            </a:xfrm>
            <a:custGeom>
              <a:avLst/>
              <a:gdLst/>
              <a:ahLst/>
              <a:cxnLst/>
              <a:rect l="l" t="t" r="r" b="b"/>
              <a:pathLst>
                <a:path w="4118187" h="519289">
                  <a:moveTo>
                    <a:pt x="0" y="0"/>
                  </a:moveTo>
                  <a:lnTo>
                    <a:pt x="4118187" y="0"/>
                  </a:lnTo>
                  <a:lnTo>
                    <a:pt x="4118187" y="519289"/>
                  </a:lnTo>
                  <a:lnTo>
                    <a:pt x="0" y="519289"/>
                  </a:lnTo>
                  <a:close/>
                </a:path>
              </a:pathLst>
            </a:custGeom>
            <a:solidFill>
              <a:srgbClr val="000000">
                <a:alpha val="0"/>
              </a:srgbClr>
            </a:solidFill>
          </p:spPr>
        </p:sp>
        <p:sp>
          <p:nvSpPr>
            <p:cNvPr id="11" name="TextBox 11"/>
            <p:cNvSpPr txBox="1"/>
            <p:nvPr/>
          </p:nvSpPr>
          <p:spPr>
            <a:xfrm>
              <a:off x="0" y="-28575"/>
              <a:ext cx="4118187" cy="547864"/>
            </a:xfrm>
            <a:prstGeom prst="rect">
              <a:avLst/>
            </a:prstGeom>
          </p:spPr>
          <p:txBody>
            <a:bodyPr lIns="0" tIns="0" rIns="0" bIns="0" rtlCol="0" anchor="ctr"/>
            <a:lstStyle/>
            <a:p>
              <a:pPr algn="ctr">
                <a:lnSpc>
                  <a:spcPts val="1535"/>
                </a:lnSpc>
              </a:pPr>
              <a:r>
                <a:rPr lang="en-US" sz="1279">
                  <a:solidFill>
                    <a:srgbClr val="898989"/>
                  </a:solidFill>
                  <a:latin typeface="Calibri (MS)"/>
                  <a:ea typeface="Calibri (MS)"/>
                  <a:cs typeface="Calibri (MS)"/>
                  <a:sym typeface="Calibri (MS)"/>
                </a:rPr>
                <a:t>Mini Project - 22CDS58</a:t>
              </a:r>
            </a:p>
          </p:txBody>
        </p:sp>
      </p:grpSp>
      <p:grpSp>
        <p:nvGrpSpPr>
          <p:cNvPr id="12" name="Group 12"/>
          <p:cNvGrpSpPr/>
          <p:nvPr/>
        </p:nvGrpSpPr>
        <p:grpSpPr>
          <a:xfrm>
            <a:off x="6990080" y="6780107"/>
            <a:ext cx="2275840" cy="389467"/>
            <a:chOff x="0" y="0"/>
            <a:chExt cx="3034453" cy="519289"/>
          </a:xfrm>
        </p:grpSpPr>
        <p:sp>
          <p:nvSpPr>
            <p:cNvPr id="13" name="Freeform 13"/>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14" name="TextBox 14"/>
            <p:cNvSpPr txBox="1"/>
            <p:nvPr/>
          </p:nvSpPr>
          <p:spPr>
            <a:xfrm>
              <a:off x="0" y="-28575"/>
              <a:ext cx="3034453" cy="547864"/>
            </a:xfrm>
            <a:prstGeom prst="rect">
              <a:avLst/>
            </a:prstGeom>
          </p:spPr>
          <p:txBody>
            <a:bodyPr lIns="0" tIns="0" rIns="0" bIns="0" rtlCol="0" anchor="ctr"/>
            <a:lstStyle/>
            <a:p>
              <a:pPr algn="r">
                <a:lnSpc>
                  <a:spcPts val="1535"/>
                </a:lnSpc>
              </a:pPr>
              <a:r>
                <a:rPr lang="en-US" sz="1279">
                  <a:solidFill>
                    <a:srgbClr val="898989"/>
                  </a:solidFill>
                  <a:latin typeface="Calibri (MS)"/>
                  <a:ea typeface="Calibri (MS)"/>
                  <a:cs typeface="Calibri (MS)"/>
                  <a:sym typeface="Calibri (MS)"/>
                </a:rPr>
                <a:t>3</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19050"/>
              <a:ext cx="11704320" cy="1644650"/>
            </a:xfrm>
            <a:prstGeom prst="rect">
              <a:avLst/>
            </a:prstGeom>
          </p:spPr>
          <p:txBody>
            <a:bodyPr lIns="0" tIns="0" rIns="0" bIns="0" rtlCol="0" anchor="ctr"/>
            <a:lstStyle/>
            <a:p>
              <a:pPr algn="ctr">
                <a:lnSpc>
                  <a:spcPts val="5120"/>
                </a:lnSpc>
              </a:pPr>
              <a:r>
                <a:rPr lang="en-US" sz="4266">
                  <a:solidFill>
                    <a:srgbClr val="FF0000"/>
                  </a:solidFill>
                  <a:latin typeface="Times New Roman"/>
                  <a:ea typeface="Times New Roman"/>
                  <a:cs typeface="Times New Roman"/>
                  <a:sym typeface="Times New Roman"/>
                </a:rPr>
                <a:t>Existing systems</a:t>
              </a:r>
            </a:p>
          </p:txBody>
        </p:sp>
      </p:grpSp>
      <p:sp>
        <p:nvSpPr>
          <p:cNvPr id="5" name="TextBox 5"/>
          <p:cNvSpPr txBox="1"/>
          <p:nvPr/>
        </p:nvSpPr>
        <p:spPr>
          <a:xfrm>
            <a:off x="579120" y="1733550"/>
            <a:ext cx="8595360" cy="4755304"/>
          </a:xfrm>
          <a:prstGeom prst="rect">
            <a:avLst/>
          </a:prstGeom>
        </p:spPr>
        <p:txBody>
          <a:bodyPr lIns="0" tIns="0" rIns="0" bIns="0" rtlCol="0" anchor="t">
            <a:spAutoFit/>
          </a:bodyPr>
          <a:lstStyle/>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AI-Powered Radiology Tools: Platforms such as Aidoc, Arterys, and Zebra Medical Vision analyze CT and MRI scans to automatically detect and highlight suspicious kidney lesions for radiologists.</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Benchmark Datasets (KiTS19 &amp; KiTS21): Provide annotated kidney and tumor CT scans used for deep learning research in segmentation and classification.</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Deep Learning Architectures: Models like U-Net, 3D U-Net, and ResNet achieve high accuracy in segmenting kidney and tumor boundaries from volumetric scans.</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Radiomics Systems: Tools like PyRadiomics and 3D Slicer extract statistical and textural features from images for tumor classification and prognosis prediction.</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PACS-Integrated AI Modules: Hospital imaging systems integrate AI to compare serial scans for tumor growth monitoring and treatment response analysis.</a:t>
            </a:r>
          </a:p>
          <a:p>
            <a:pPr marL="219637" lvl="1" indent="-109818" algn="l">
              <a:lnSpc>
                <a:spcPts val="2047"/>
              </a:lnSpc>
            </a:pPr>
            <a:endParaRPr lang="en-US" sz="1706">
              <a:solidFill>
                <a:srgbClr val="000000"/>
              </a:solidFill>
              <a:latin typeface="Times New Roman"/>
              <a:ea typeface="Times New Roman"/>
              <a:cs typeface="Times New Roman"/>
              <a:sym typeface="Times New Roman"/>
            </a:endParaRPr>
          </a:p>
          <a:p>
            <a:pPr marL="219637" lvl="1" indent="-109818" algn="l">
              <a:lnSpc>
                <a:spcPts val="2047"/>
              </a:lnSpc>
            </a:pPr>
            <a:endParaRPr lang="en-US" sz="1706">
              <a:solidFill>
                <a:srgbClr val="000000"/>
              </a:solidFill>
              <a:latin typeface="Times New Roman"/>
              <a:ea typeface="Times New Roman"/>
              <a:cs typeface="Times New Roman"/>
              <a:sym typeface="Times New Roman"/>
            </a:endParaRPr>
          </a:p>
        </p:txBody>
      </p:sp>
      <p:grpSp>
        <p:nvGrpSpPr>
          <p:cNvPr id="6" name="Group 6"/>
          <p:cNvGrpSpPr/>
          <p:nvPr/>
        </p:nvGrpSpPr>
        <p:grpSpPr>
          <a:xfrm>
            <a:off x="487680" y="6780107"/>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28575"/>
              <a:ext cx="3034453" cy="547864"/>
            </a:xfrm>
            <a:prstGeom prst="rect">
              <a:avLst/>
            </a:prstGeom>
          </p:spPr>
          <p:txBody>
            <a:bodyPr lIns="0" tIns="0" rIns="0" bIns="0" rtlCol="0" anchor="ctr"/>
            <a:lstStyle/>
            <a:p>
              <a:pPr algn="l">
                <a:lnSpc>
                  <a:spcPts val="1535"/>
                </a:lnSpc>
              </a:pPr>
              <a:r>
                <a:rPr lang="en-US" sz="1279">
                  <a:solidFill>
                    <a:srgbClr val="898989"/>
                  </a:solidFill>
                  <a:latin typeface="Calibri (MS)"/>
                  <a:ea typeface="Calibri (MS)"/>
                  <a:cs typeface="Calibri (MS)"/>
                  <a:sym typeface="Calibri (MS)"/>
                </a:rPr>
                <a:t>24/11/2025</a:t>
              </a:r>
            </a:p>
          </p:txBody>
        </p:sp>
      </p:grpSp>
      <p:grpSp>
        <p:nvGrpSpPr>
          <p:cNvPr id="9" name="Group 9"/>
          <p:cNvGrpSpPr/>
          <p:nvPr/>
        </p:nvGrpSpPr>
        <p:grpSpPr>
          <a:xfrm>
            <a:off x="3332480" y="6780107"/>
            <a:ext cx="3088640" cy="389467"/>
            <a:chOff x="0" y="0"/>
            <a:chExt cx="4118187" cy="519289"/>
          </a:xfrm>
        </p:grpSpPr>
        <p:sp>
          <p:nvSpPr>
            <p:cNvPr id="10" name="Freeform 10"/>
            <p:cNvSpPr/>
            <p:nvPr/>
          </p:nvSpPr>
          <p:spPr>
            <a:xfrm>
              <a:off x="0" y="0"/>
              <a:ext cx="4118187" cy="519289"/>
            </a:xfrm>
            <a:custGeom>
              <a:avLst/>
              <a:gdLst/>
              <a:ahLst/>
              <a:cxnLst/>
              <a:rect l="l" t="t" r="r" b="b"/>
              <a:pathLst>
                <a:path w="4118187" h="519289">
                  <a:moveTo>
                    <a:pt x="0" y="0"/>
                  </a:moveTo>
                  <a:lnTo>
                    <a:pt x="4118187" y="0"/>
                  </a:lnTo>
                  <a:lnTo>
                    <a:pt x="4118187" y="519289"/>
                  </a:lnTo>
                  <a:lnTo>
                    <a:pt x="0" y="519289"/>
                  </a:lnTo>
                  <a:close/>
                </a:path>
              </a:pathLst>
            </a:custGeom>
            <a:solidFill>
              <a:srgbClr val="000000">
                <a:alpha val="0"/>
              </a:srgbClr>
            </a:solidFill>
          </p:spPr>
        </p:sp>
        <p:sp>
          <p:nvSpPr>
            <p:cNvPr id="11" name="TextBox 11"/>
            <p:cNvSpPr txBox="1"/>
            <p:nvPr/>
          </p:nvSpPr>
          <p:spPr>
            <a:xfrm>
              <a:off x="0" y="-28575"/>
              <a:ext cx="4118187" cy="547864"/>
            </a:xfrm>
            <a:prstGeom prst="rect">
              <a:avLst/>
            </a:prstGeom>
          </p:spPr>
          <p:txBody>
            <a:bodyPr lIns="0" tIns="0" rIns="0" bIns="0" rtlCol="0" anchor="ctr"/>
            <a:lstStyle/>
            <a:p>
              <a:pPr algn="ctr">
                <a:lnSpc>
                  <a:spcPts val="1535"/>
                </a:lnSpc>
              </a:pPr>
              <a:r>
                <a:rPr lang="en-US" sz="1279">
                  <a:solidFill>
                    <a:srgbClr val="898989"/>
                  </a:solidFill>
                  <a:latin typeface="Calibri (MS)"/>
                  <a:ea typeface="Calibri (MS)"/>
                  <a:cs typeface="Calibri (MS)"/>
                  <a:sym typeface="Calibri (MS)"/>
                </a:rPr>
                <a:t>Mini Project - 22CDS58</a:t>
              </a:r>
            </a:p>
          </p:txBody>
        </p:sp>
      </p:grpSp>
      <p:grpSp>
        <p:nvGrpSpPr>
          <p:cNvPr id="12" name="Group 12"/>
          <p:cNvGrpSpPr/>
          <p:nvPr/>
        </p:nvGrpSpPr>
        <p:grpSpPr>
          <a:xfrm>
            <a:off x="6990080" y="6780107"/>
            <a:ext cx="2275840" cy="389467"/>
            <a:chOff x="0" y="0"/>
            <a:chExt cx="3034453" cy="519289"/>
          </a:xfrm>
        </p:grpSpPr>
        <p:sp>
          <p:nvSpPr>
            <p:cNvPr id="13" name="Freeform 13"/>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14" name="TextBox 14"/>
            <p:cNvSpPr txBox="1"/>
            <p:nvPr/>
          </p:nvSpPr>
          <p:spPr>
            <a:xfrm>
              <a:off x="0" y="-28575"/>
              <a:ext cx="3034453" cy="547864"/>
            </a:xfrm>
            <a:prstGeom prst="rect">
              <a:avLst/>
            </a:prstGeom>
          </p:spPr>
          <p:txBody>
            <a:bodyPr lIns="0" tIns="0" rIns="0" bIns="0" rtlCol="0" anchor="ctr"/>
            <a:lstStyle/>
            <a:p>
              <a:pPr algn="r">
                <a:lnSpc>
                  <a:spcPts val="1535"/>
                </a:lnSpc>
              </a:pPr>
              <a:r>
                <a:rPr lang="en-US" sz="1279">
                  <a:solidFill>
                    <a:srgbClr val="898989"/>
                  </a:solidFill>
                  <a:latin typeface="Calibri (MS)"/>
                  <a:ea typeface="Calibri (MS)"/>
                  <a:cs typeface="Calibri (MS)"/>
                  <a:sym typeface="Calibri (MS)"/>
                </a:rPr>
                <a:t>4</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19050"/>
              <a:ext cx="11704320" cy="1644650"/>
            </a:xfrm>
            <a:prstGeom prst="rect">
              <a:avLst/>
            </a:prstGeom>
          </p:spPr>
          <p:txBody>
            <a:bodyPr lIns="0" tIns="0" rIns="0" bIns="0" rtlCol="0" anchor="ctr"/>
            <a:lstStyle/>
            <a:p>
              <a:pPr algn="ctr">
                <a:lnSpc>
                  <a:spcPts val="5120"/>
                </a:lnSpc>
              </a:pPr>
              <a:r>
                <a:rPr lang="en-US" sz="4266">
                  <a:solidFill>
                    <a:srgbClr val="FF0000"/>
                  </a:solidFill>
                  <a:latin typeface="Times New Roman"/>
                  <a:ea typeface="Times New Roman"/>
                  <a:cs typeface="Times New Roman"/>
                  <a:sym typeface="Times New Roman"/>
                </a:rPr>
                <a:t>Limitations of Existing Systems</a:t>
              </a:r>
            </a:p>
            <a:p>
              <a:pPr algn="ctr">
                <a:lnSpc>
                  <a:spcPts val="5120"/>
                </a:lnSpc>
              </a:pPr>
              <a:endParaRPr lang="en-US" sz="4266">
                <a:solidFill>
                  <a:srgbClr val="FF0000"/>
                </a:solidFill>
                <a:latin typeface="Times New Roman"/>
                <a:ea typeface="Times New Roman"/>
                <a:cs typeface="Times New Roman"/>
                <a:sym typeface="Times New Roman"/>
              </a:endParaRPr>
            </a:p>
          </p:txBody>
        </p:sp>
      </p:grpSp>
      <p:sp>
        <p:nvSpPr>
          <p:cNvPr id="5" name="TextBox 5"/>
          <p:cNvSpPr txBox="1"/>
          <p:nvPr/>
        </p:nvSpPr>
        <p:spPr>
          <a:xfrm>
            <a:off x="579120" y="1517841"/>
            <a:ext cx="8595360" cy="4755304"/>
          </a:xfrm>
          <a:prstGeom prst="rect">
            <a:avLst/>
          </a:prstGeom>
        </p:spPr>
        <p:txBody>
          <a:bodyPr lIns="0" tIns="0" rIns="0" bIns="0" rtlCol="0" anchor="t">
            <a:spAutoFit/>
          </a:bodyPr>
          <a:lstStyle/>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High Data Dependency: Require large, annotated datasets, which are often scarce due to patient privacy and labeling costs.</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Generalization Issues: Models trained on one dataset perform poorly on others due to scanner and demographic variations.</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Interpretability Challenges: Deep learning models often behave as black boxes, offering little explanation for their predictions.</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Computational Overheads: High GPU and memory requirements limit their use in low-resource hospital setups.</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Incomplete Analysis: Most existing models focus on segmentation or detection only, ignoring long-term growth rate estimation and clinical correlations.</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Limited Clinical Integration: Few systems are seamlessly integrated into radiology workflows for real-time decision support.</a:t>
            </a:r>
          </a:p>
          <a:p>
            <a:pPr marL="219637" lvl="1" indent="-109818" algn="l">
              <a:lnSpc>
                <a:spcPts val="2047"/>
              </a:lnSpc>
            </a:pPr>
            <a:endParaRPr lang="en-US" sz="1706">
              <a:solidFill>
                <a:srgbClr val="000000"/>
              </a:solidFill>
              <a:latin typeface="Times New Roman"/>
              <a:ea typeface="Times New Roman"/>
              <a:cs typeface="Times New Roman"/>
              <a:sym typeface="Times New Roman"/>
            </a:endParaRPr>
          </a:p>
        </p:txBody>
      </p:sp>
      <p:grpSp>
        <p:nvGrpSpPr>
          <p:cNvPr id="6" name="Group 6"/>
          <p:cNvGrpSpPr/>
          <p:nvPr/>
        </p:nvGrpSpPr>
        <p:grpSpPr>
          <a:xfrm>
            <a:off x="487680" y="6780107"/>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28575"/>
              <a:ext cx="3034453" cy="547864"/>
            </a:xfrm>
            <a:prstGeom prst="rect">
              <a:avLst/>
            </a:prstGeom>
          </p:spPr>
          <p:txBody>
            <a:bodyPr lIns="0" tIns="0" rIns="0" bIns="0" rtlCol="0" anchor="ctr"/>
            <a:lstStyle/>
            <a:p>
              <a:pPr algn="l">
                <a:lnSpc>
                  <a:spcPts val="1535"/>
                </a:lnSpc>
              </a:pPr>
              <a:r>
                <a:rPr lang="en-US" sz="1279">
                  <a:solidFill>
                    <a:srgbClr val="898989"/>
                  </a:solidFill>
                  <a:latin typeface="Calibri (MS)"/>
                  <a:ea typeface="Calibri (MS)"/>
                  <a:cs typeface="Calibri (MS)"/>
                  <a:sym typeface="Calibri (MS)"/>
                </a:rPr>
                <a:t>24/11/2025</a:t>
              </a:r>
            </a:p>
          </p:txBody>
        </p:sp>
      </p:grpSp>
      <p:grpSp>
        <p:nvGrpSpPr>
          <p:cNvPr id="9" name="Group 9"/>
          <p:cNvGrpSpPr/>
          <p:nvPr/>
        </p:nvGrpSpPr>
        <p:grpSpPr>
          <a:xfrm>
            <a:off x="3332480" y="6780107"/>
            <a:ext cx="3088640" cy="389467"/>
            <a:chOff x="0" y="0"/>
            <a:chExt cx="4118187" cy="519289"/>
          </a:xfrm>
        </p:grpSpPr>
        <p:sp>
          <p:nvSpPr>
            <p:cNvPr id="10" name="Freeform 10"/>
            <p:cNvSpPr/>
            <p:nvPr/>
          </p:nvSpPr>
          <p:spPr>
            <a:xfrm>
              <a:off x="0" y="0"/>
              <a:ext cx="4118187" cy="519289"/>
            </a:xfrm>
            <a:custGeom>
              <a:avLst/>
              <a:gdLst/>
              <a:ahLst/>
              <a:cxnLst/>
              <a:rect l="l" t="t" r="r" b="b"/>
              <a:pathLst>
                <a:path w="4118187" h="519289">
                  <a:moveTo>
                    <a:pt x="0" y="0"/>
                  </a:moveTo>
                  <a:lnTo>
                    <a:pt x="4118187" y="0"/>
                  </a:lnTo>
                  <a:lnTo>
                    <a:pt x="4118187" y="519289"/>
                  </a:lnTo>
                  <a:lnTo>
                    <a:pt x="0" y="519289"/>
                  </a:lnTo>
                  <a:close/>
                </a:path>
              </a:pathLst>
            </a:custGeom>
            <a:solidFill>
              <a:srgbClr val="000000">
                <a:alpha val="0"/>
              </a:srgbClr>
            </a:solidFill>
          </p:spPr>
        </p:sp>
        <p:sp>
          <p:nvSpPr>
            <p:cNvPr id="11" name="TextBox 11"/>
            <p:cNvSpPr txBox="1"/>
            <p:nvPr/>
          </p:nvSpPr>
          <p:spPr>
            <a:xfrm>
              <a:off x="0" y="-28575"/>
              <a:ext cx="4118187" cy="547864"/>
            </a:xfrm>
            <a:prstGeom prst="rect">
              <a:avLst/>
            </a:prstGeom>
          </p:spPr>
          <p:txBody>
            <a:bodyPr lIns="0" tIns="0" rIns="0" bIns="0" rtlCol="0" anchor="ctr"/>
            <a:lstStyle/>
            <a:p>
              <a:pPr algn="ctr">
                <a:lnSpc>
                  <a:spcPts val="1535"/>
                </a:lnSpc>
              </a:pPr>
              <a:r>
                <a:rPr lang="en-US" sz="1279">
                  <a:solidFill>
                    <a:srgbClr val="898989"/>
                  </a:solidFill>
                  <a:latin typeface="Calibri (MS)"/>
                  <a:ea typeface="Calibri (MS)"/>
                  <a:cs typeface="Calibri (MS)"/>
                  <a:sym typeface="Calibri (MS)"/>
                </a:rPr>
                <a:t>Mini Project - 22CDS58</a:t>
              </a:r>
            </a:p>
          </p:txBody>
        </p:sp>
      </p:grpSp>
      <p:grpSp>
        <p:nvGrpSpPr>
          <p:cNvPr id="12" name="Group 12"/>
          <p:cNvGrpSpPr/>
          <p:nvPr/>
        </p:nvGrpSpPr>
        <p:grpSpPr>
          <a:xfrm>
            <a:off x="6990080" y="6780107"/>
            <a:ext cx="2275840" cy="389467"/>
            <a:chOff x="0" y="0"/>
            <a:chExt cx="3034453" cy="519289"/>
          </a:xfrm>
        </p:grpSpPr>
        <p:sp>
          <p:nvSpPr>
            <p:cNvPr id="13" name="Freeform 13"/>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14" name="TextBox 14"/>
            <p:cNvSpPr txBox="1"/>
            <p:nvPr/>
          </p:nvSpPr>
          <p:spPr>
            <a:xfrm>
              <a:off x="0" y="-28575"/>
              <a:ext cx="3034453" cy="547864"/>
            </a:xfrm>
            <a:prstGeom prst="rect">
              <a:avLst/>
            </a:prstGeom>
          </p:spPr>
          <p:txBody>
            <a:bodyPr lIns="0" tIns="0" rIns="0" bIns="0" rtlCol="0" anchor="ctr"/>
            <a:lstStyle/>
            <a:p>
              <a:pPr algn="r">
                <a:lnSpc>
                  <a:spcPts val="1535"/>
                </a:lnSpc>
              </a:pPr>
              <a:r>
                <a:rPr lang="en-US" sz="1279">
                  <a:solidFill>
                    <a:srgbClr val="898989"/>
                  </a:solidFill>
                  <a:latin typeface="Calibri (MS)"/>
                  <a:ea typeface="Calibri (MS)"/>
                  <a:cs typeface="Calibri (MS)"/>
                  <a:sym typeface="Calibri (MS)"/>
                </a:rPr>
                <a:t>5</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19050"/>
              <a:ext cx="11704320" cy="1644650"/>
            </a:xfrm>
            <a:prstGeom prst="rect">
              <a:avLst/>
            </a:prstGeom>
          </p:spPr>
          <p:txBody>
            <a:bodyPr lIns="0" tIns="0" rIns="0" bIns="0" rtlCol="0" anchor="ctr"/>
            <a:lstStyle/>
            <a:p>
              <a:pPr algn="ctr">
                <a:lnSpc>
                  <a:spcPts val="5120"/>
                </a:lnSpc>
              </a:pPr>
              <a:r>
                <a:rPr lang="en-US" sz="4266">
                  <a:solidFill>
                    <a:srgbClr val="FF0000"/>
                  </a:solidFill>
                  <a:latin typeface="Times New Roman"/>
                  <a:ea typeface="Times New Roman"/>
                  <a:cs typeface="Times New Roman"/>
                  <a:sym typeface="Times New Roman"/>
                </a:rPr>
                <a:t>Problem Definition</a:t>
              </a:r>
            </a:p>
          </p:txBody>
        </p:sp>
      </p:grpSp>
      <p:sp>
        <p:nvSpPr>
          <p:cNvPr id="5" name="TextBox 5"/>
          <p:cNvSpPr txBox="1"/>
          <p:nvPr/>
        </p:nvSpPr>
        <p:spPr>
          <a:xfrm>
            <a:off x="579120" y="1733550"/>
            <a:ext cx="8595360" cy="4755304"/>
          </a:xfrm>
          <a:prstGeom prst="rect">
            <a:avLst/>
          </a:prstGeom>
        </p:spPr>
        <p:txBody>
          <a:bodyPr lIns="0" tIns="0" rIns="0" bIns="0" rtlCol="0" anchor="t">
            <a:spAutoFit/>
          </a:bodyPr>
          <a:lstStyle/>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Existing AI-based systems lack a comprehensive and interpretable framework for kidney tumor analysis.</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Most current models focus only on detection or segmentation, not full growth analysis.</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There is a need for an automated system that can perform detection, classification, and growth tracking in one pipeline.</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The project aims to develop a machine learning-based system that:</a:t>
            </a: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Automatically identifies kidney tumors from CT scans.</a:t>
            </a: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Classifies tumors as benign or malignant.</a:t>
            </a: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Calculates tumor growth rate over multiple time intervals.</a:t>
            </a: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The goal is to support radiologists in accurate diagnosis and treatment planning.</a:t>
            </a:r>
          </a:p>
          <a:p>
            <a:pPr marL="219637" lvl="1" indent="-109818" algn="l">
              <a:lnSpc>
                <a:spcPts val="2047"/>
              </a:lnSpc>
            </a:pPr>
            <a:endParaRPr lang="en-US" sz="1706">
              <a:solidFill>
                <a:srgbClr val="000000"/>
              </a:solidFill>
              <a:latin typeface="Times New Roman"/>
              <a:ea typeface="Times New Roman"/>
              <a:cs typeface="Times New Roman"/>
              <a:sym typeface="Times New Roman"/>
            </a:endParaRPr>
          </a:p>
        </p:txBody>
      </p:sp>
      <p:grpSp>
        <p:nvGrpSpPr>
          <p:cNvPr id="6" name="Group 6"/>
          <p:cNvGrpSpPr/>
          <p:nvPr/>
        </p:nvGrpSpPr>
        <p:grpSpPr>
          <a:xfrm>
            <a:off x="487680" y="6780107"/>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28575"/>
              <a:ext cx="3034453" cy="547864"/>
            </a:xfrm>
            <a:prstGeom prst="rect">
              <a:avLst/>
            </a:prstGeom>
          </p:spPr>
          <p:txBody>
            <a:bodyPr lIns="0" tIns="0" rIns="0" bIns="0" rtlCol="0" anchor="ctr"/>
            <a:lstStyle/>
            <a:p>
              <a:pPr algn="l">
                <a:lnSpc>
                  <a:spcPts val="1535"/>
                </a:lnSpc>
              </a:pPr>
              <a:r>
                <a:rPr lang="en-US" sz="1279">
                  <a:solidFill>
                    <a:srgbClr val="898989"/>
                  </a:solidFill>
                  <a:latin typeface="Calibri (MS)"/>
                  <a:ea typeface="Calibri (MS)"/>
                  <a:cs typeface="Calibri (MS)"/>
                  <a:sym typeface="Calibri (MS)"/>
                </a:rPr>
                <a:t>24/11/2025</a:t>
              </a:r>
            </a:p>
          </p:txBody>
        </p:sp>
      </p:grpSp>
      <p:grpSp>
        <p:nvGrpSpPr>
          <p:cNvPr id="9" name="Group 9"/>
          <p:cNvGrpSpPr/>
          <p:nvPr/>
        </p:nvGrpSpPr>
        <p:grpSpPr>
          <a:xfrm>
            <a:off x="3332480" y="6780107"/>
            <a:ext cx="3088640" cy="389467"/>
            <a:chOff x="0" y="0"/>
            <a:chExt cx="4118187" cy="519289"/>
          </a:xfrm>
        </p:grpSpPr>
        <p:sp>
          <p:nvSpPr>
            <p:cNvPr id="10" name="Freeform 10"/>
            <p:cNvSpPr/>
            <p:nvPr/>
          </p:nvSpPr>
          <p:spPr>
            <a:xfrm>
              <a:off x="0" y="0"/>
              <a:ext cx="4118187" cy="519289"/>
            </a:xfrm>
            <a:custGeom>
              <a:avLst/>
              <a:gdLst/>
              <a:ahLst/>
              <a:cxnLst/>
              <a:rect l="l" t="t" r="r" b="b"/>
              <a:pathLst>
                <a:path w="4118187" h="519289">
                  <a:moveTo>
                    <a:pt x="0" y="0"/>
                  </a:moveTo>
                  <a:lnTo>
                    <a:pt x="4118187" y="0"/>
                  </a:lnTo>
                  <a:lnTo>
                    <a:pt x="4118187" y="519289"/>
                  </a:lnTo>
                  <a:lnTo>
                    <a:pt x="0" y="519289"/>
                  </a:lnTo>
                  <a:close/>
                </a:path>
              </a:pathLst>
            </a:custGeom>
            <a:solidFill>
              <a:srgbClr val="000000">
                <a:alpha val="0"/>
              </a:srgbClr>
            </a:solidFill>
          </p:spPr>
        </p:sp>
        <p:sp>
          <p:nvSpPr>
            <p:cNvPr id="11" name="TextBox 11"/>
            <p:cNvSpPr txBox="1"/>
            <p:nvPr/>
          </p:nvSpPr>
          <p:spPr>
            <a:xfrm>
              <a:off x="0" y="-28575"/>
              <a:ext cx="4118187" cy="547864"/>
            </a:xfrm>
            <a:prstGeom prst="rect">
              <a:avLst/>
            </a:prstGeom>
          </p:spPr>
          <p:txBody>
            <a:bodyPr lIns="0" tIns="0" rIns="0" bIns="0" rtlCol="0" anchor="ctr"/>
            <a:lstStyle/>
            <a:p>
              <a:pPr algn="ctr">
                <a:lnSpc>
                  <a:spcPts val="1535"/>
                </a:lnSpc>
              </a:pPr>
              <a:r>
                <a:rPr lang="en-US" sz="1279">
                  <a:solidFill>
                    <a:srgbClr val="898989"/>
                  </a:solidFill>
                  <a:latin typeface="Calibri (MS)"/>
                  <a:ea typeface="Calibri (MS)"/>
                  <a:cs typeface="Calibri (MS)"/>
                  <a:sym typeface="Calibri (MS)"/>
                </a:rPr>
                <a:t>Mini Project - 22CDS58</a:t>
              </a:r>
            </a:p>
          </p:txBody>
        </p:sp>
      </p:grpSp>
      <p:grpSp>
        <p:nvGrpSpPr>
          <p:cNvPr id="12" name="Group 12"/>
          <p:cNvGrpSpPr/>
          <p:nvPr/>
        </p:nvGrpSpPr>
        <p:grpSpPr>
          <a:xfrm>
            <a:off x="6990080" y="6780107"/>
            <a:ext cx="2275840" cy="389467"/>
            <a:chOff x="0" y="0"/>
            <a:chExt cx="3034453" cy="519289"/>
          </a:xfrm>
        </p:grpSpPr>
        <p:sp>
          <p:nvSpPr>
            <p:cNvPr id="13" name="Freeform 13"/>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14" name="TextBox 14"/>
            <p:cNvSpPr txBox="1"/>
            <p:nvPr/>
          </p:nvSpPr>
          <p:spPr>
            <a:xfrm>
              <a:off x="0" y="-28575"/>
              <a:ext cx="3034453" cy="547864"/>
            </a:xfrm>
            <a:prstGeom prst="rect">
              <a:avLst/>
            </a:prstGeom>
          </p:spPr>
          <p:txBody>
            <a:bodyPr lIns="0" tIns="0" rIns="0" bIns="0" rtlCol="0" anchor="ctr"/>
            <a:lstStyle/>
            <a:p>
              <a:pPr algn="r">
                <a:lnSpc>
                  <a:spcPts val="1535"/>
                </a:lnSpc>
              </a:pPr>
              <a:r>
                <a:rPr lang="en-US" sz="1279">
                  <a:solidFill>
                    <a:srgbClr val="898989"/>
                  </a:solidFill>
                  <a:latin typeface="Calibri (MS)"/>
                  <a:ea typeface="Calibri (MS)"/>
                  <a:cs typeface="Calibri (MS)"/>
                  <a:sym typeface="Calibri (MS)"/>
                </a:rPr>
                <a:t>6</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19050"/>
              <a:ext cx="11704320" cy="1644650"/>
            </a:xfrm>
            <a:prstGeom prst="rect">
              <a:avLst/>
            </a:prstGeom>
          </p:spPr>
          <p:txBody>
            <a:bodyPr lIns="0" tIns="0" rIns="0" bIns="0" rtlCol="0" anchor="ctr"/>
            <a:lstStyle/>
            <a:p>
              <a:pPr algn="ctr">
                <a:lnSpc>
                  <a:spcPts val="5120"/>
                </a:lnSpc>
              </a:pPr>
              <a:r>
                <a:rPr lang="en-US" sz="4266">
                  <a:solidFill>
                    <a:srgbClr val="FF0000"/>
                  </a:solidFill>
                  <a:latin typeface="Times New Roman"/>
                  <a:ea typeface="Times New Roman"/>
                  <a:cs typeface="Times New Roman"/>
                  <a:sym typeface="Times New Roman"/>
                </a:rPr>
                <a:t>Objectives</a:t>
              </a:r>
            </a:p>
          </p:txBody>
        </p:sp>
      </p:grpSp>
      <p:sp>
        <p:nvSpPr>
          <p:cNvPr id="5" name="TextBox 5"/>
          <p:cNvSpPr txBox="1"/>
          <p:nvPr/>
        </p:nvSpPr>
        <p:spPr>
          <a:xfrm>
            <a:off x="579120" y="1733550"/>
            <a:ext cx="8595360" cy="4755304"/>
          </a:xfrm>
          <a:prstGeom prst="rect">
            <a:avLst/>
          </a:prstGeom>
        </p:spPr>
        <p:txBody>
          <a:bodyPr lIns="0" tIns="0" rIns="0" bIns="0" rtlCol="0" anchor="t">
            <a:spAutoFit/>
          </a:bodyPr>
          <a:lstStyle/>
          <a:p>
            <a:pPr marL="219637" lvl="1" indent="-109818" algn="just">
              <a:lnSpc>
                <a:spcPts val="2047"/>
              </a:lnSpc>
              <a:buAutoNum type="arabicPeriod"/>
            </a:pPr>
            <a:r>
              <a:rPr lang="en-US" sz="1706">
                <a:solidFill>
                  <a:srgbClr val="000000"/>
                </a:solidFill>
                <a:latin typeface="Times New Roman"/>
                <a:ea typeface="Times New Roman"/>
                <a:cs typeface="Times New Roman"/>
                <a:sym typeface="Times New Roman"/>
              </a:rPr>
              <a:t>To preprocess kidney CT/MRI images by enhancing contrast and removing noise for accurate feature extraction.</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AutoNum type="arabicPeriod"/>
            </a:pPr>
            <a:r>
              <a:rPr lang="en-US" sz="1706">
                <a:solidFill>
                  <a:srgbClr val="000000"/>
                </a:solidFill>
                <a:latin typeface="Times New Roman"/>
                <a:ea typeface="Times New Roman"/>
                <a:cs typeface="Times New Roman"/>
                <a:sym typeface="Times New Roman"/>
              </a:rPr>
              <a:t>To segment kidney and tumor regions using deep learning models such as U-Net for precise localization.</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AutoNum type="arabicPeriod"/>
            </a:pPr>
            <a:r>
              <a:rPr lang="en-US" sz="1706">
                <a:solidFill>
                  <a:srgbClr val="000000"/>
                </a:solidFill>
                <a:latin typeface="Times New Roman"/>
                <a:ea typeface="Times New Roman"/>
                <a:cs typeface="Times New Roman"/>
                <a:sym typeface="Times New Roman"/>
              </a:rPr>
              <a:t>To classify tumors into benign and malignant types using convolutional neural network (CNN) classifiers.</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AutoNum type="arabicPeriod"/>
            </a:pPr>
            <a:r>
              <a:rPr lang="en-US" sz="1706">
                <a:solidFill>
                  <a:srgbClr val="000000"/>
                </a:solidFill>
                <a:latin typeface="Times New Roman"/>
                <a:ea typeface="Times New Roman"/>
                <a:cs typeface="Times New Roman"/>
                <a:sym typeface="Times New Roman"/>
              </a:rPr>
              <a:t>To estimate and visualize tumor growth rate based on size and volume variations across time-series data.</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AutoNum type="arabicPeriod"/>
            </a:pPr>
            <a:r>
              <a:rPr lang="en-US" sz="1706">
                <a:solidFill>
                  <a:srgbClr val="000000"/>
                </a:solidFill>
                <a:latin typeface="Times New Roman"/>
                <a:ea typeface="Times New Roman"/>
                <a:cs typeface="Times New Roman"/>
                <a:sym typeface="Times New Roman"/>
              </a:rPr>
              <a:t>To evaluate the model’s accuracy, sensitivity, specificity, and Dice score using benchmark datasets like KiTS21.</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AutoNum type="arabicPeriod"/>
            </a:pPr>
            <a:r>
              <a:rPr lang="en-US" sz="1706">
                <a:solidFill>
                  <a:srgbClr val="000000"/>
                </a:solidFill>
                <a:latin typeface="Times New Roman"/>
                <a:ea typeface="Times New Roman"/>
                <a:cs typeface="Times New Roman"/>
                <a:sym typeface="Times New Roman"/>
              </a:rPr>
              <a:t>To provide a user-friendly visualization dashboard for clinicians to interpret results easily.</a:t>
            </a:r>
          </a:p>
          <a:p>
            <a:pPr marL="219637" lvl="1" indent="-109818" algn="l">
              <a:lnSpc>
                <a:spcPts val="2047"/>
              </a:lnSpc>
            </a:pPr>
            <a:endParaRPr lang="en-US" sz="1706">
              <a:solidFill>
                <a:srgbClr val="000000"/>
              </a:solidFill>
              <a:latin typeface="Times New Roman"/>
              <a:ea typeface="Times New Roman"/>
              <a:cs typeface="Times New Roman"/>
              <a:sym typeface="Times New Roman"/>
            </a:endParaRPr>
          </a:p>
        </p:txBody>
      </p:sp>
      <p:grpSp>
        <p:nvGrpSpPr>
          <p:cNvPr id="6" name="Group 6"/>
          <p:cNvGrpSpPr/>
          <p:nvPr/>
        </p:nvGrpSpPr>
        <p:grpSpPr>
          <a:xfrm>
            <a:off x="487680" y="6780107"/>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28575"/>
              <a:ext cx="3034453" cy="547864"/>
            </a:xfrm>
            <a:prstGeom prst="rect">
              <a:avLst/>
            </a:prstGeom>
          </p:spPr>
          <p:txBody>
            <a:bodyPr lIns="0" tIns="0" rIns="0" bIns="0" rtlCol="0" anchor="ctr"/>
            <a:lstStyle/>
            <a:p>
              <a:pPr algn="l">
                <a:lnSpc>
                  <a:spcPts val="1535"/>
                </a:lnSpc>
              </a:pPr>
              <a:r>
                <a:rPr lang="en-US" sz="1279">
                  <a:solidFill>
                    <a:srgbClr val="898989"/>
                  </a:solidFill>
                  <a:latin typeface="Calibri (MS)"/>
                  <a:ea typeface="Calibri (MS)"/>
                  <a:cs typeface="Calibri (MS)"/>
                  <a:sym typeface="Calibri (MS)"/>
                </a:rPr>
                <a:t>24/11/2025</a:t>
              </a:r>
            </a:p>
          </p:txBody>
        </p:sp>
      </p:grpSp>
      <p:grpSp>
        <p:nvGrpSpPr>
          <p:cNvPr id="9" name="Group 9"/>
          <p:cNvGrpSpPr/>
          <p:nvPr/>
        </p:nvGrpSpPr>
        <p:grpSpPr>
          <a:xfrm>
            <a:off x="3332480" y="6780107"/>
            <a:ext cx="3088640" cy="389467"/>
            <a:chOff x="0" y="0"/>
            <a:chExt cx="4118187" cy="519289"/>
          </a:xfrm>
        </p:grpSpPr>
        <p:sp>
          <p:nvSpPr>
            <p:cNvPr id="10" name="Freeform 10"/>
            <p:cNvSpPr/>
            <p:nvPr/>
          </p:nvSpPr>
          <p:spPr>
            <a:xfrm>
              <a:off x="0" y="0"/>
              <a:ext cx="4118187" cy="519289"/>
            </a:xfrm>
            <a:custGeom>
              <a:avLst/>
              <a:gdLst/>
              <a:ahLst/>
              <a:cxnLst/>
              <a:rect l="l" t="t" r="r" b="b"/>
              <a:pathLst>
                <a:path w="4118187" h="519289">
                  <a:moveTo>
                    <a:pt x="0" y="0"/>
                  </a:moveTo>
                  <a:lnTo>
                    <a:pt x="4118187" y="0"/>
                  </a:lnTo>
                  <a:lnTo>
                    <a:pt x="4118187" y="519289"/>
                  </a:lnTo>
                  <a:lnTo>
                    <a:pt x="0" y="519289"/>
                  </a:lnTo>
                  <a:close/>
                </a:path>
              </a:pathLst>
            </a:custGeom>
            <a:solidFill>
              <a:srgbClr val="000000">
                <a:alpha val="0"/>
              </a:srgbClr>
            </a:solidFill>
          </p:spPr>
        </p:sp>
        <p:sp>
          <p:nvSpPr>
            <p:cNvPr id="11" name="TextBox 11"/>
            <p:cNvSpPr txBox="1"/>
            <p:nvPr/>
          </p:nvSpPr>
          <p:spPr>
            <a:xfrm>
              <a:off x="0" y="-28575"/>
              <a:ext cx="4118187" cy="547864"/>
            </a:xfrm>
            <a:prstGeom prst="rect">
              <a:avLst/>
            </a:prstGeom>
          </p:spPr>
          <p:txBody>
            <a:bodyPr lIns="0" tIns="0" rIns="0" bIns="0" rtlCol="0" anchor="ctr"/>
            <a:lstStyle/>
            <a:p>
              <a:pPr algn="ctr">
                <a:lnSpc>
                  <a:spcPts val="1535"/>
                </a:lnSpc>
              </a:pPr>
              <a:r>
                <a:rPr lang="en-US" sz="1279">
                  <a:solidFill>
                    <a:srgbClr val="898989"/>
                  </a:solidFill>
                  <a:latin typeface="Calibri (MS)"/>
                  <a:ea typeface="Calibri (MS)"/>
                  <a:cs typeface="Calibri (MS)"/>
                  <a:sym typeface="Calibri (MS)"/>
                </a:rPr>
                <a:t>Mini Project – 22CSD48</a:t>
              </a:r>
            </a:p>
          </p:txBody>
        </p:sp>
      </p:grpSp>
      <p:grpSp>
        <p:nvGrpSpPr>
          <p:cNvPr id="12" name="Group 12"/>
          <p:cNvGrpSpPr/>
          <p:nvPr/>
        </p:nvGrpSpPr>
        <p:grpSpPr>
          <a:xfrm>
            <a:off x="6990080" y="6780107"/>
            <a:ext cx="2275840" cy="389467"/>
            <a:chOff x="0" y="0"/>
            <a:chExt cx="3034453" cy="519289"/>
          </a:xfrm>
        </p:grpSpPr>
        <p:sp>
          <p:nvSpPr>
            <p:cNvPr id="13" name="Freeform 13"/>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14" name="TextBox 14"/>
            <p:cNvSpPr txBox="1"/>
            <p:nvPr/>
          </p:nvSpPr>
          <p:spPr>
            <a:xfrm>
              <a:off x="0" y="-28575"/>
              <a:ext cx="3034453" cy="547864"/>
            </a:xfrm>
            <a:prstGeom prst="rect">
              <a:avLst/>
            </a:prstGeom>
          </p:spPr>
          <p:txBody>
            <a:bodyPr lIns="0" tIns="0" rIns="0" bIns="0" rtlCol="0" anchor="ctr"/>
            <a:lstStyle/>
            <a:p>
              <a:pPr algn="r">
                <a:lnSpc>
                  <a:spcPts val="1535"/>
                </a:lnSpc>
              </a:pPr>
              <a:r>
                <a:rPr lang="en-US" sz="1279">
                  <a:solidFill>
                    <a:srgbClr val="898989"/>
                  </a:solidFill>
                  <a:latin typeface="Calibri (MS)"/>
                  <a:ea typeface="Calibri (MS)"/>
                  <a:cs typeface="Calibri (MS)"/>
                  <a:sym typeface="Calibri (MS)"/>
                </a:rPr>
                <a:t>7</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19050"/>
              <a:ext cx="11704320" cy="1644650"/>
            </a:xfrm>
            <a:prstGeom prst="rect">
              <a:avLst/>
            </a:prstGeom>
          </p:spPr>
          <p:txBody>
            <a:bodyPr lIns="0" tIns="0" rIns="0" bIns="0" rtlCol="0" anchor="ctr"/>
            <a:lstStyle/>
            <a:p>
              <a:pPr algn="ctr">
                <a:lnSpc>
                  <a:spcPts val="5120"/>
                </a:lnSpc>
              </a:pPr>
              <a:r>
                <a:rPr lang="en-US" sz="4266">
                  <a:solidFill>
                    <a:srgbClr val="FF0000"/>
                  </a:solidFill>
                  <a:latin typeface="Times New Roman"/>
                  <a:ea typeface="Times New Roman"/>
                  <a:cs typeface="Times New Roman"/>
                  <a:sym typeface="Times New Roman"/>
                </a:rPr>
                <a:t>Design Modules</a:t>
              </a:r>
            </a:p>
          </p:txBody>
        </p:sp>
      </p:grpSp>
      <p:grpSp>
        <p:nvGrpSpPr>
          <p:cNvPr id="5" name="Group 5"/>
          <p:cNvGrpSpPr>
            <a:grpSpLocks noChangeAspect="1"/>
          </p:cNvGrpSpPr>
          <p:nvPr/>
        </p:nvGrpSpPr>
        <p:grpSpPr>
          <a:xfrm>
            <a:off x="1445699" y="1788160"/>
            <a:ext cx="6862201" cy="4065202"/>
            <a:chOff x="0" y="0"/>
            <a:chExt cx="9149601" cy="5420270"/>
          </a:xfrm>
        </p:grpSpPr>
        <p:sp>
          <p:nvSpPr>
            <p:cNvPr id="6" name="Freeform 6"/>
            <p:cNvSpPr/>
            <p:nvPr/>
          </p:nvSpPr>
          <p:spPr>
            <a:xfrm>
              <a:off x="0" y="0"/>
              <a:ext cx="9149588" cy="5420233"/>
            </a:xfrm>
            <a:custGeom>
              <a:avLst/>
              <a:gdLst/>
              <a:ahLst/>
              <a:cxnLst/>
              <a:rect l="l" t="t" r="r" b="b"/>
              <a:pathLst>
                <a:path w="9149588" h="5420233">
                  <a:moveTo>
                    <a:pt x="0" y="0"/>
                  </a:moveTo>
                  <a:lnTo>
                    <a:pt x="9149588" y="0"/>
                  </a:lnTo>
                  <a:lnTo>
                    <a:pt x="9149588" y="5420233"/>
                  </a:lnTo>
                  <a:lnTo>
                    <a:pt x="0" y="5420233"/>
                  </a:lnTo>
                  <a:lnTo>
                    <a:pt x="0" y="0"/>
                  </a:lnTo>
                  <a:close/>
                </a:path>
              </a:pathLst>
            </a:custGeom>
            <a:blipFill>
              <a:blip r:embed="rId2"/>
              <a:stretch>
                <a:fillRect/>
              </a:stretch>
            </a:blipFill>
          </p:spPr>
        </p:sp>
      </p:grpSp>
      <p:grpSp>
        <p:nvGrpSpPr>
          <p:cNvPr id="7" name="Group 7"/>
          <p:cNvGrpSpPr/>
          <p:nvPr/>
        </p:nvGrpSpPr>
        <p:grpSpPr>
          <a:xfrm>
            <a:off x="487680" y="6780107"/>
            <a:ext cx="2275840" cy="389467"/>
            <a:chOff x="0" y="0"/>
            <a:chExt cx="3034453" cy="519289"/>
          </a:xfrm>
        </p:grpSpPr>
        <p:sp>
          <p:nvSpPr>
            <p:cNvPr id="8" name="Freeform 8"/>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9" name="TextBox 9"/>
            <p:cNvSpPr txBox="1"/>
            <p:nvPr/>
          </p:nvSpPr>
          <p:spPr>
            <a:xfrm>
              <a:off x="0" y="-28575"/>
              <a:ext cx="3034453" cy="547864"/>
            </a:xfrm>
            <a:prstGeom prst="rect">
              <a:avLst/>
            </a:prstGeom>
          </p:spPr>
          <p:txBody>
            <a:bodyPr lIns="0" tIns="0" rIns="0" bIns="0" rtlCol="0" anchor="ctr"/>
            <a:lstStyle/>
            <a:p>
              <a:pPr algn="l">
                <a:lnSpc>
                  <a:spcPts val="1535"/>
                </a:lnSpc>
              </a:pPr>
              <a:r>
                <a:rPr lang="en-US" sz="1279">
                  <a:solidFill>
                    <a:srgbClr val="898989"/>
                  </a:solidFill>
                  <a:latin typeface="Calibri (MS)"/>
                  <a:ea typeface="Calibri (MS)"/>
                  <a:cs typeface="Calibri (MS)"/>
                  <a:sym typeface="Calibri (MS)"/>
                </a:rPr>
                <a:t>24/11/2025</a:t>
              </a:r>
            </a:p>
          </p:txBody>
        </p:sp>
      </p:grpSp>
      <p:grpSp>
        <p:nvGrpSpPr>
          <p:cNvPr id="10" name="Group 10"/>
          <p:cNvGrpSpPr/>
          <p:nvPr/>
        </p:nvGrpSpPr>
        <p:grpSpPr>
          <a:xfrm>
            <a:off x="3332480" y="6780107"/>
            <a:ext cx="3088640" cy="389467"/>
            <a:chOff x="0" y="0"/>
            <a:chExt cx="4118187" cy="519289"/>
          </a:xfrm>
        </p:grpSpPr>
        <p:sp>
          <p:nvSpPr>
            <p:cNvPr id="11" name="Freeform 11"/>
            <p:cNvSpPr/>
            <p:nvPr/>
          </p:nvSpPr>
          <p:spPr>
            <a:xfrm>
              <a:off x="0" y="0"/>
              <a:ext cx="4118187" cy="519289"/>
            </a:xfrm>
            <a:custGeom>
              <a:avLst/>
              <a:gdLst/>
              <a:ahLst/>
              <a:cxnLst/>
              <a:rect l="l" t="t" r="r" b="b"/>
              <a:pathLst>
                <a:path w="4118187" h="519289">
                  <a:moveTo>
                    <a:pt x="0" y="0"/>
                  </a:moveTo>
                  <a:lnTo>
                    <a:pt x="4118187" y="0"/>
                  </a:lnTo>
                  <a:lnTo>
                    <a:pt x="4118187" y="519289"/>
                  </a:lnTo>
                  <a:lnTo>
                    <a:pt x="0" y="519289"/>
                  </a:lnTo>
                  <a:close/>
                </a:path>
              </a:pathLst>
            </a:custGeom>
            <a:solidFill>
              <a:srgbClr val="000000">
                <a:alpha val="0"/>
              </a:srgbClr>
            </a:solidFill>
          </p:spPr>
        </p:sp>
        <p:sp>
          <p:nvSpPr>
            <p:cNvPr id="12" name="TextBox 12"/>
            <p:cNvSpPr txBox="1"/>
            <p:nvPr/>
          </p:nvSpPr>
          <p:spPr>
            <a:xfrm>
              <a:off x="0" y="-28575"/>
              <a:ext cx="4118187" cy="547864"/>
            </a:xfrm>
            <a:prstGeom prst="rect">
              <a:avLst/>
            </a:prstGeom>
          </p:spPr>
          <p:txBody>
            <a:bodyPr lIns="0" tIns="0" rIns="0" bIns="0" rtlCol="0" anchor="ctr"/>
            <a:lstStyle/>
            <a:p>
              <a:pPr algn="ctr">
                <a:lnSpc>
                  <a:spcPts val="1535"/>
                </a:lnSpc>
              </a:pPr>
              <a:r>
                <a:rPr lang="en-US" sz="1279">
                  <a:solidFill>
                    <a:srgbClr val="898989"/>
                  </a:solidFill>
                  <a:latin typeface="Calibri (MS)"/>
                  <a:ea typeface="Calibri (MS)"/>
                  <a:cs typeface="Calibri (MS)"/>
                  <a:sym typeface="Calibri (MS)"/>
                </a:rPr>
                <a:t>Mini Project -22CDS58</a:t>
              </a:r>
            </a:p>
          </p:txBody>
        </p:sp>
      </p:grpSp>
      <p:grpSp>
        <p:nvGrpSpPr>
          <p:cNvPr id="13" name="Group 13"/>
          <p:cNvGrpSpPr/>
          <p:nvPr/>
        </p:nvGrpSpPr>
        <p:grpSpPr>
          <a:xfrm>
            <a:off x="6990080" y="6780107"/>
            <a:ext cx="2275840" cy="389467"/>
            <a:chOff x="0" y="0"/>
            <a:chExt cx="3034453" cy="519289"/>
          </a:xfrm>
        </p:grpSpPr>
        <p:sp>
          <p:nvSpPr>
            <p:cNvPr id="14" name="Freeform 1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15" name="TextBox 15"/>
            <p:cNvSpPr txBox="1"/>
            <p:nvPr/>
          </p:nvSpPr>
          <p:spPr>
            <a:xfrm>
              <a:off x="0" y="-28575"/>
              <a:ext cx="3034453" cy="547864"/>
            </a:xfrm>
            <a:prstGeom prst="rect">
              <a:avLst/>
            </a:prstGeom>
          </p:spPr>
          <p:txBody>
            <a:bodyPr lIns="0" tIns="0" rIns="0" bIns="0" rtlCol="0" anchor="ctr"/>
            <a:lstStyle/>
            <a:p>
              <a:pPr algn="r">
                <a:lnSpc>
                  <a:spcPts val="1535"/>
                </a:lnSpc>
              </a:pPr>
              <a:r>
                <a:rPr lang="en-US" sz="1279">
                  <a:solidFill>
                    <a:srgbClr val="898989"/>
                  </a:solidFill>
                  <a:latin typeface="Calibri (MS)"/>
                  <a:ea typeface="Calibri (MS)"/>
                  <a:cs typeface="Calibri (MS)"/>
                  <a:sym typeface="Calibri (MS)"/>
                </a:rPr>
                <a:t>8</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19050"/>
              <a:ext cx="11704320" cy="1644650"/>
            </a:xfrm>
            <a:prstGeom prst="rect">
              <a:avLst/>
            </a:prstGeom>
          </p:spPr>
          <p:txBody>
            <a:bodyPr lIns="0" tIns="0" rIns="0" bIns="0" rtlCol="0" anchor="ctr"/>
            <a:lstStyle/>
            <a:p>
              <a:pPr algn="ctr">
                <a:lnSpc>
                  <a:spcPts val="5120"/>
                </a:lnSpc>
              </a:pPr>
              <a:r>
                <a:rPr lang="en-US" sz="4266">
                  <a:solidFill>
                    <a:srgbClr val="FF0000"/>
                  </a:solidFill>
                  <a:latin typeface="Times New Roman"/>
                  <a:ea typeface="Times New Roman"/>
                  <a:cs typeface="Times New Roman"/>
                  <a:sym typeface="Times New Roman"/>
                </a:rPr>
                <a:t>Flowchart</a:t>
              </a:r>
            </a:p>
          </p:txBody>
        </p:sp>
      </p:grpSp>
      <p:grpSp>
        <p:nvGrpSpPr>
          <p:cNvPr id="5" name="Group 5"/>
          <p:cNvGrpSpPr/>
          <p:nvPr/>
        </p:nvGrpSpPr>
        <p:grpSpPr>
          <a:xfrm>
            <a:off x="487680" y="6780107"/>
            <a:ext cx="2275840" cy="389467"/>
            <a:chOff x="0" y="0"/>
            <a:chExt cx="3034453" cy="519289"/>
          </a:xfrm>
        </p:grpSpPr>
        <p:sp>
          <p:nvSpPr>
            <p:cNvPr id="6" name="Freeform 6"/>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7" name="TextBox 7"/>
            <p:cNvSpPr txBox="1"/>
            <p:nvPr/>
          </p:nvSpPr>
          <p:spPr>
            <a:xfrm>
              <a:off x="0" y="-28575"/>
              <a:ext cx="3034453" cy="547864"/>
            </a:xfrm>
            <a:prstGeom prst="rect">
              <a:avLst/>
            </a:prstGeom>
          </p:spPr>
          <p:txBody>
            <a:bodyPr lIns="0" tIns="0" rIns="0" bIns="0" rtlCol="0" anchor="ctr"/>
            <a:lstStyle/>
            <a:p>
              <a:pPr algn="l">
                <a:lnSpc>
                  <a:spcPts val="1535"/>
                </a:lnSpc>
              </a:pPr>
              <a:r>
                <a:rPr lang="en-US" sz="1279">
                  <a:solidFill>
                    <a:srgbClr val="898989"/>
                  </a:solidFill>
                  <a:latin typeface="Calibri (MS)"/>
                  <a:ea typeface="Calibri (MS)"/>
                  <a:cs typeface="Calibri (MS)"/>
                  <a:sym typeface="Calibri (MS)"/>
                </a:rPr>
                <a:t>24/11/2025</a:t>
              </a:r>
            </a:p>
          </p:txBody>
        </p:sp>
      </p:grpSp>
      <p:grpSp>
        <p:nvGrpSpPr>
          <p:cNvPr id="8" name="Group 8"/>
          <p:cNvGrpSpPr/>
          <p:nvPr/>
        </p:nvGrpSpPr>
        <p:grpSpPr>
          <a:xfrm>
            <a:off x="3332480" y="6780107"/>
            <a:ext cx="3088640" cy="389467"/>
            <a:chOff x="0" y="0"/>
            <a:chExt cx="4118187" cy="519289"/>
          </a:xfrm>
        </p:grpSpPr>
        <p:sp>
          <p:nvSpPr>
            <p:cNvPr id="9" name="Freeform 9"/>
            <p:cNvSpPr/>
            <p:nvPr/>
          </p:nvSpPr>
          <p:spPr>
            <a:xfrm>
              <a:off x="0" y="0"/>
              <a:ext cx="4118187" cy="519289"/>
            </a:xfrm>
            <a:custGeom>
              <a:avLst/>
              <a:gdLst/>
              <a:ahLst/>
              <a:cxnLst/>
              <a:rect l="l" t="t" r="r" b="b"/>
              <a:pathLst>
                <a:path w="4118187" h="519289">
                  <a:moveTo>
                    <a:pt x="0" y="0"/>
                  </a:moveTo>
                  <a:lnTo>
                    <a:pt x="4118187" y="0"/>
                  </a:lnTo>
                  <a:lnTo>
                    <a:pt x="4118187" y="519289"/>
                  </a:lnTo>
                  <a:lnTo>
                    <a:pt x="0" y="519289"/>
                  </a:lnTo>
                  <a:close/>
                </a:path>
              </a:pathLst>
            </a:custGeom>
            <a:solidFill>
              <a:srgbClr val="000000">
                <a:alpha val="0"/>
              </a:srgbClr>
            </a:solidFill>
          </p:spPr>
        </p:sp>
        <p:sp>
          <p:nvSpPr>
            <p:cNvPr id="10" name="TextBox 10"/>
            <p:cNvSpPr txBox="1"/>
            <p:nvPr/>
          </p:nvSpPr>
          <p:spPr>
            <a:xfrm>
              <a:off x="0" y="-28575"/>
              <a:ext cx="4118187" cy="547864"/>
            </a:xfrm>
            <a:prstGeom prst="rect">
              <a:avLst/>
            </a:prstGeom>
          </p:spPr>
          <p:txBody>
            <a:bodyPr lIns="0" tIns="0" rIns="0" bIns="0" rtlCol="0" anchor="ctr"/>
            <a:lstStyle/>
            <a:p>
              <a:pPr algn="ctr">
                <a:lnSpc>
                  <a:spcPts val="1535"/>
                </a:lnSpc>
              </a:pPr>
              <a:r>
                <a:rPr lang="en-US" sz="1279">
                  <a:solidFill>
                    <a:srgbClr val="898989"/>
                  </a:solidFill>
                  <a:latin typeface="Calibri (MS)"/>
                  <a:ea typeface="Calibri (MS)"/>
                  <a:cs typeface="Calibri (MS)"/>
                  <a:sym typeface="Calibri (MS)"/>
                </a:rPr>
                <a:t>Mini Project -22CDS58</a:t>
              </a:r>
            </a:p>
          </p:txBody>
        </p:sp>
      </p:grpSp>
      <p:grpSp>
        <p:nvGrpSpPr>
          <p:cNvPr id="11" name="Group 11"/>
          <p:cNvGrpSpPr/>
          <p:nvPr/>
        </p:nvGrpSpPr>
        <p:grpSpPr>
          <a:xfrm>
            <a:off x="6990080" y="6780107"/>
            <a:ext cx="2275840" cy="389467"/>
            <a:chOff x="0" y="0"/>
            <a:chExt cx="3034453" cy="519289"/>
          </a:xfrm>
        </p:grpSpPr>
        <p:sp>
          <p:nvSpPr>
            <p:cNvPr id="12" name="Freeform 12"/>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13" name="TextBox 13"/>
            <p:cNvSpPr txBox="1"/>
            <p:nvPr/>
          </p:nvSpPr>
          <p:spPr>
            <a:xfrm>
              <a:off x="0" y="-28575"/>
              <a:ext cx="3034453" cy="547864"/>
            </a:xfrm>
            <a:prstGeom prst="rect">
              <a:avLst/>
            </a:prstGeom>
          </p:spPr>
          <p:txBody>
            <a:bodyPr lIns="0" tIns="0" rIns="0" bIns="0" rtlCol="0" anchor="ctr"/>
            <a:lstStyle/>
            <a:p>
              <a:pPr algn="r">
                <a:lnSpc>
                  <a:spcPts val="1535"/>
                </a:lnSpc>
              </a:pPr>
              <a:r>
                <a:rPr lang="en-US" sz="1279">
                  <a:solidFill>
                    <a:srgbClr val="898989"/>
                  </a:solidFill>
                  <a:latin typeface="Calibri (MS)"/>
                  <a:ea typeface="Calibri (MS)"/>
                  <a:cs typeface="Calibri (MS)"/>
                  <a:sym typeface="Calibri (MS)"/>
                </a:rPr>
                <a:t>9</a:t>
              </a:r>
            </a:p>
          </p:txBody>
        </p:sp>
      </p:grpSp>
      <p:grpSp>
        <p:nvGrpSpPr>
          <p:cNvPr id="14" name="Group 14"/>
          <p:cNvGrpSpPr>
            <a:grpSpLocks noChangeAspect="1"/>
          </p:cNvGrpSpPr>
          <p:nvPr/>
        </p:nvGrpSpPr>
        <p:grpSpPr>
          <a:xfrm>
            <a:off x="1641574" y="1706880"/>
            <a:ext cx="6470450" cy="4827694"/>
            <a:chOff x="0" y="0"/>
            <a:chExt cx="8627267" cy="6436925"/>
          </a:xfrm>
        </p:grpSpPr>
        <p:sp>
          <p:nvSpPr>
            <p:cNvPr id="15" name="Freeform 15"/>
            <p:cNvSpPr/>
            <p:nvPr/>
          </p:nvSpPr>
          <p:spPr>
            <a:xfrm>
              <a:off x="0" y="0"/>
              <a:ext cx="8627237" cy="6436868"/>
            </a:xfrm>
            <a:custGeom>
              <a:avLst/>
              <a:gdLst/>
              <a:ahLst/>
              <a:cxnLst/>
              <a:rect l="l" t="t" r="r" b="b"/>
              <a:pathLst>
                <a:path w="8627237" h="6436868">
                  <a:moveTo>
                    <a:pt x="0" y="0"/>
                  </a:moveTo>
                  <a:lnTo>
                    <a:pt x="8627237" y="0"/>
                  </a:lnTo>
                  <a:lnTo>
                    <a:pt x="8627237" y="6436868"/>
                  </a:lnTo>
                  <a:lnTo>
                    <a:pt x="0" y="6436868"/>
                  </a:lnTo>
                  <a:lnTo>
                    <a:pt x="0" y="0"/>
                  </a:lnTo>
                  <a:close/>
                </a:path>
              </a:pathLst>
            </a:custGeom>
            <a:blipFill>
              <a:blip r:embed="rId2"/>
              <a:stretch>
                <a:fillRect/>
              </a:stretch>
            </a:blip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95250"/>
              <a:ext cx="11704320" cy="1720850"/>
            </a:xfrm>
            <a:prstGeom prst="rect">
              <a:avLst/>
            </a:prstGeom>
          </p:spPr>
          <p:txBody>
            <a:bodyPr lIns="0" tIns="0" rIns="0" bIns="0" rtlCol="0" anchor="ctr"/>
            <a:lstStyle/>
            <a:p>
              <a:pPr algn="ctr">
                <a:lnSpc>
                  <a:spcPts val="5631"/>
                </a:lnSpc>
              </a:pPr>
              <a:r>
                <a:rPr lang="en-US" sz="4693">
                  <a:solidFill>
                    <a:srgbClr val="000000"/>
                  </a:solidFill>
                  <a:latin typeface="Calibri (MS)"/>
                  <a:ea typeface="Calibri (MS)"/>
                  <a:cs typeface="Calibri (MS)"/>
                  <a:sym typeface="Calibri (MS)"/>
                </a:rPr>
                <a:t>Implementation</a:t>
              </a:r>
            </a:p>
          </p:txBody>
        </p:sp>
      </p:grpSp>
      <p:sp>
        <p:nvSpPr>
          <p:cNvPr id="5" name="TextBox 5"/>
          <p:cNvSpPr txBox="1"/>
          <p:nvPr/>
        </p:nvSpPr>
        <p:spPr>
          <a:xfrm>
            <a:off x="487680" y="1685263"/>
            <a:ext cx="8225740" cy="4827270"/>
          </a:xfrm>
          <a:prstGeom prst="rect">
            <a:avLst/>
          </a:prstGeom>
        </p:spPr>
        <p:txBody>
          <a:bodyPr lIns="0" tIns="0" rIns="0" bIns="0" rtlCol="0" anchor="t">
            <a:spAutoFit/>
          </a:bodyPr>
          <a:lstStyle/>
          <a:p>
            <a:pPr algn="l">
              <a:lnSpc>
                <a:spcPts val="1679"/>
              </a:lnSpc>
            </a:pPr>
            <a:r>
              <a:rPr lang="en-US" sz="1200">
                <a:solidFill>
                  <a:srgbClr val="000000"/>
                </a:solidFill>
                <a:latin typeface="Times New Roman"/>
                <a:ea typeface="Times New Roman"/>
                <a:cs typeface="Times New Roman"/>
                <a:sym typeface="Times New Roman"/>
              </a:rPr>
              <a:t># CELL 2: Import Libraries</a:t>
            </a:r>
          </a:p>
          <a:p>
            <a:pPr algn="l">
              <a:lnSpc>
                <a:spcPts val="1679"/>
              </a:lnSpc>
            </a:pPr>
            <a:r>
              <a:rPr lang="en-US" sz="1200">
                <a:solidFill>
                  <a:srgbClr val="000000"/>
                </a:solidFill>
                <a:latin typeface="Times New Roman"/>
                <a:ea typeface="Times New Roman"/>
                <a:cs typeface="Times New Roman"/>
                <a:sym typeface="Times New Roman"/>
              </a:rPr>
              <a:t>import torch</a:t>
            </a:r>
          </a:p>
          <a:p>
            <a:pPr algn="l">
              <a:lnSpc>
                <a:spcPts val="1679"/>
              </a:lnSpc>
            </a:pPr>
            <a:r>
              <a:rPr lang="en-US" sz="1200">
                <a:solidFill>
                  <a:srgbClr val="000000"/>
                </a:solidFill>
                <a:latin typeface="Times New Roman"/>
                <a:ea typeface="Times New Roman"/>
                <a:cs typeface="Times New Roman"/>
                <a:sym typeface="Times New Roman"/>
              </a:rPr>
              <a:t>import torch.nn as nn</a:t>
            </a:r>
          </a:p>
          <a:p>
            <a:pPr algn="l">
              <a:lnSpc>
                <a:spcPts val="1679"/>
              </a:lnSpc>
            </a:pPr>
            <a:r>
              <a:rPr lang="en-US" sz="1200">
                <a:solidFill>
                  <a:srgbClr val="000000"/>
                </a:solidFill>
                <a:latin typeface="Times New Roman"/>
                <a:ea typeface="Times New Roman"/>
                <a:cs typeface="Times New Roman"/>
                <a:sym typeface="Times New Roman"/>
              </a:rPr>
              <a:t>import torch.optim as optim</a:t>
            </a:r>
          </a:p>
          <a:p>
            <a:pPr algn="l">
              <a:lnSpc>
                <a:spcPts val="1679"/>
              </a:lnSpc>
            </a:pPr>
            <a:r>
              <a:rPr lang="en-US" sz="1200">
                <a:solidFill>
                  <a:srgbClr val="000000"/>
                </a:solidFill>
                <a:latin typeface="Times New Roman"/>
                <a:ea typeface="Times New Roman"/>
                <a:cs typeface="Times New Roman"/>
                <a:sym typeface="Times New Roman"/>
              </a:rPr>
              <a:t>from torch.utils.data import Dataset, DataLoader</a:t>
            </a:r>
          </a:p>
          <a:p>
            <a:pPr algn="l">
              <a:lnSpc>
                <a:spcPts val="1679"/>
              </a:lnSpc>
            </a:pPr>
            <a:r>
              <a:rPr lang="en-US" sz="1200">
                <a:solidFill>
                  <a:srgbClr val="000000"/>
                </a:solidFill>
                <a:latin typeface="Times New Roman"/>
                <a:ea typeface="Times New Roman"/>
                <a:cs typeface="Times New Roman"/>
                <a:sym typeface="Times New Roman"/>
              </a:rPr>
              <a:t>import nibabel as nib</a:t>
            </a:r>
          </a:p>
          <a:p>
            <a:pPr algn="l">
              <a:lnSpc>
                <a:spcPts val="1679"/>
              </a:lnSpc>
            </a:pPr>
            <a:r>
              <a:rPr lang="en-US" sz="1200">
                <a:solidFill>
                  <a:srgbClr val="000000"/>
                </a:solidFill>
                <a:latin typeface="Times New Roman"/>
                <a:ea typeface="Times New Roman"/>
                <a:cs typeface="Times New Roman"/>
                <a:sym typeface="Times New Roman"/>
              </a:rPr>
              <a:t>import numpy as np</a:t>
            </a:r>
          </a:p>
          <a:p>
            <a:pPr algn="l">
              <a:lnSpc>
                <a:spcPts val="1679"/>
              </a:lnSpc>
            </a:pPr>
            <a:r>
              <a:rPr lang="en-US" sz="1200">
                <a:solidFill>
                  <a:srgbClr val="000000"/>
                </a:solidFill>
                <a:latin typeface="Times New Roman"/>
                <a:ea typeface="Times New Roman"/>
                <a:cs typeface="Times New Roman"/>
                <a:sym typeface="Times New Roman"/>
              </a:rPr>
              <a:t>from pathlib import Path</a:t>
            </a:r>
          </a:p>
          <a:p>
            <a:pPr algn="l">
              <a:lnSpc>
                <a:spcPts val="1679"/>
              </a:lnSpc>
            </a:pPr>
            <a:r>
              <a:rPr lang="en-US" sz="1200">
                <a:solidFill>
                  <a:srgbClr val="000000"/>
                </a:solidFill>
                <a:latin typeface="Times New Roman"/>
                <a:ea typeface="Times New Roman"/>
                <a:cs typeface="Times New Roman"/>
                <a:sym typeface="Times New Roman"/>
              </a:rPr>
              <a:t>from tqdm import tqdm</a:t>
            </a:r>
          </a:p>
          <a:p>
            <a:pPr algn="l">
              <a:lnSpc>
                <a:spcPts val="1679"/>
              </a:lnSpc>
            </a:pPr>
            <a:r>
              <a:rPr lang="en-US" sz="1200">
                <a:solidFill>
                  <a:srgbClr val="000000"/>
                </a:solidFill>
                <a:latin typeface="Times New Roman"/>
                <a:ea typeface="Times New Roman"/>
                <a:cs typeface="Times New Roman"/>
                <a:sym typeface="Times New Roman"/>
              </a:rPr>
              <a:t>import matplotlib.pyplot as plt</a:t>
            </a:r>
          </a:p>
          <a:p>
            <a:pPr algn="l">
              <a:lnSpc>
                <a:spcPts val="1679"/>
              </a:lnSpc>
            </a:pPr>
            <a:r>
              <a:rPr lang="en-US" sz="1200">
                <a:solidFill>
                  <a:srgbClr val="000000"/>
                </a:solidFill>
                <a:latin typeface="Times New Roman"/>
                <a:ea typeface="Times New Roman"/>
                <a:cs typeface="Times New Roman"/>
                <a:sym typeface="Times New Roman"/>
              </a:rPr>
              <a:t>from sklearn.model_selection import train_test_split</a:t>
            </a:r>
          </a:p>
          <a:p>
            <a:pPr algn="l">
              <a:lnSpc>
                <a:spcPts val="1679"/>
              </a:lnSpc>
            </a:pPr>
            <a:r>
              <a:rPr lang="en-US" sz="1200">
                <a:solidFill>
                  <a:srgbClr val="000000"/>
                </a:solidFill>
                <a:latin typeface="Times New Roman"/>
                <a:ea typeface="Times New Roman"/>
                <a:cs typeface="Times New Roman"/>
                <a:sym typeface="Times New Roman"/>
              </a:rPr>
              <a:t>import sys</a:t>
            </a:r>
          </a:p>
          <a:p>
            <a:pPr algn="l">
              <a:lnSpc>
                <a:spcPts val="1679"/>
              </a:lnSpc>
            </a:pPr>
            <a:r>
              <a:rPr lang="en-US" sz="1200">
                <a:solidFill>
                  <a:srgbClr val="000000"/>
                </a:solidFill>
                <a:latin typeface="Times New Roman"/>
                <a:ea typeface="Times New Roman"/>
                <a:cs typeface="Times New Roman"/>
                <a:sym typeface="Times New Roman"/>
              </a:rPr>
              <a:t>import importlib.util</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Import U-Net model using absolute path</a:t>
            </a:r>
          </a:p>
          <a:p>
            <a:pPr algn="l">
              <a:lnSpc>
                <a:spcPts val="1679"/>
              </a:lnSpc>
            </a:pPr>
            <a:r>
              <a:rPr lang="en-US" sz="1200">
                <a:solidFill>
                  <a:srgbClr val="000000"/>
                </a:solidFill>
                <a:latin typeface="Times New Roman"/>
                <a:ea typeface="Times New Roman"/>
                <a:cs typeface="Times New Roman"/>
                <a:sym typeface="Times New Roman"/>
              </a:rPr>
              <a:t>model_path = r'C:\Users\kasir\OneDrive\Documents\Kidney Tumor\kidney-tumor-backend\models\kidney_unet3d.py'</a:t>
            </a:r>
          </a:p>
          <a:p>
            <a:pPr algn="l">
              <a:lnSpc>
                <a:spcPts val="1679"/>
              </a:lnSpc>
            </a:pPr>
            <a:r>
              <a:rPr lang="en-US" sz="1200">
                <a:solidFill>
                  <a:srgbClr val="000000"/>
                </a:solidFill>
                <a:latin typeface="Times New Roman"/>
                <a:ea typeface="Times New Roman"/>
                <a:cs typeface="Times New Roman"/>
                <a:sym typeface="Times New Roman"/>
              </a:rPr>
              <a:t>spec = importlib.util.spec_from_file_location("kidney_unet3d", model_path)</a:t>
            </a:r>
          </a:p>
          <a:p>
            <a:pPr algn="l">
              <a:lnSpc>
                <a:spcPts val="1679"/>
              </a:lnSpc>
            </a:pPr>
            <a:r>
              <a:rPr lang="en-US" sz="1200">
                <a:solidFill>
                  <a:srgbClr val="000000"/>
                </a:solidFill>
                <a:latin typeface="Times New Roman"/>
                <a:ea typeface="Times New Roman"/>
                <a:cs typeface="Times New Roman"/>
                <a:sym typeface="Times New Roman"/>
              </a:rPr>
              <a:t>unet_module = importlib.util.module_from_spec(spec)</a:t>
            </a:r>
          </a:p>
          <a:p>
            <a:pPr algn="l">
              <a:lnSpc>
                <a:spcPts val="1679"/>
              </a:lnSpc>
            </a:pPr>
            <a:r>
              <a:rPr lang="en-US" sz="1200">
                <a:solidFill>
                  <a:srgbClr val="000000"/>
                </a:solidFill>
                <a:latin typeface="Times New Roman"/>
                <a:ea typeface="Times New Roman"/>
                <a:cs typeface="Times New Roman"/>
                <a:sym typeface="Times New Roman"/>
              </a:rPr>
              <a:t>spec.loader.exec_module(unet_module)</a:t>
            </a:r>
          </a:p>
          <a:p>
            <a:pPr algn="l">
              <a:lnSpc>
                <a:spcPts val="1679"/>
              </a:lnSpc>
            </a:pPr>
            <a:r>
              <a:rPr lang="en-US" sz="1200">
                <a:solidFill>
                  <a:srgbClr val="000000"/>
                </a:solidFill>
                <a:latin typeface="Times New Roman"/>
                <a:ea typeface="Times New Roman"/>
                <a:cs typeface="Times New Roman"/>
                <a:sym typeface="Times New Roman"/>
              </a:rPr>
              <a:t>UNet3D = unet_module.UNet3D</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endParaRPr lang="en-US" sz="1200">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78327" y="349969"/>
            <a:ext cx="7586865" cy="6713220"/>
          </a:xfrm>
          <a:prstGeom prst="rect">
            <a:avLst/>
          </a:prstGeom>
        </p:spPr>
        <p:txBody>
          <a:bodyPr lIns="0" tIns="0" rIns="0" bIns="0" rtlCol="0" anchor="t">
            <a:spAutoFit/>
          </a:bodyPr>
          <a:lstStyle/>
          <a:p>
            <a:pPr algn="l">
              <a:lnSpc>
                <a:spcPts val="1679"/>
              </a:lnSpc>
            </a:pPr>
            <a:endParaRPr/>
          </a:p>
          <a:p>
            <a:pPr algn="l">
              <a:lnSpc>
                <a:spcPts val="1679"/>
              </a:lnSpc>
            </a:pPr>
            <a:r>
              <a:rPr lang="en-US" sz="1200">
                <a:solidFill>
                  <a:srgbClr val="000000"/>
                </a:solidFill>
                <a:latin typeface="Times New Roman"/>
                <a:ea typeface="Times New Roman"/>
                <a:cs typeface="Times New Roman"/>
                <a:sym typeface="Times New Roman"/>
              </a:rPr>
              <a:t>from pathlib import Path</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path = Path("../kits19/data")</a:t>
            </a:r>
          </a:p>
          <a:p>
            <a:pPr algn="l">
              <a:lnSpc>
                <a:spcPts val="1679"/>
              </a:lnSpc>
            </a:pPr>
            <a:r>
              <a:rPr lang="en-US" sz="1200">
                <a:solidFill>
                  <a:srgbClr val="000000"/>
                </a:solidFill>
                <a:latin typeface="Times New Roman"/>
                <a:ea typeface="Times New Roman"/>
                <a:cs typeface="Times New Roman"/>
                <a:sym typeface="Times New Roman"/>
              </a:rPr>
              <a:t>print("Path exists:", path.exists())</a:t>
            </a:r>
          </a:p>
          <a:p>
            <a:pPr algn="l">
              <a:lnSpc>
                <a:spcPts val="1679"/>
              </a:lnSpc>
            </a:pPr>
            <a:r>
              <a:rPr lang="en-US" sz="1200">
                <a:solidFill>
                  <a:srgbClr val="000000"/>
                </a:solidFill>
                <a:latin typeface="Times New Roman"/>
                <a:ea typeface="Times New Roman"/>
                <a:cs typeface="Times New Roman"/>
                <a:sym typeface="Times New Roman"/>
              </a:rPr>
              <a:t>print("Absolute path:", path.resolve())</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from pathlib import Path</a:t>
            </a:r>
          </a:p>
          <a:p>
            <a:pPr algn="l">
              <a:lnSpc>
                <a:spcPts val="1679"/>
              </a:lnSpc>
            </a:pPr>
            <a:r>
              <a:rPr lang="en-US" sz="1200">
                <a:solidFill>
                  <a:srgbClr val="000000"/>
                </a:solidFill>
                <a:latin typeface="Times New Roman"/>
                <a:ea typeface="Times New Roman"/>
                <a:cs typeface="Times New Roman"/>
                <a:sym typeface="Times New Roman"/>
              </a:rPr>
              <a:t>import torch</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class Config:</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DEVICE = torch.device("cuda" if torch.cuda.is_available() else "cpu")</a:t>
            </a:r>
          </a:p>
          <a:p>
            <a:pPr algn="l">
              <a:lnSpc>
                <a:spcPts val="1679"/>
              </a:lnSpc>
            </a:pPr>
            <a:r>
              <a:rPr lang="en-US" sz="1200">
                <a:solidFill>
                  <a:srgbClr val="000000"/>
                </a:solidFill>
                <a:latin typeface="Times New Roman"/>
                <a:ea typeface="Times New Roman"/>
                <a:cs typeface="Times New Roman"/>
                <a:sym typeface="Times New Roman"/>
              </a:rPr>
              <a:t>    BASE_DIR = Path("../kits19")</a:t>
            </a:r>
          </a:p>
          <a:p>
            <a:pPr algn="l">
              <a:lnSpc>
                <a:spcPts val="1679"/>
              </a:lnSpc>
            </a:pPr>
            <a:r>
              <a:rPr lang="en-US" sz="1200">
                <a:solidFill>
                  <a:srgbClr val="000000"/>
                </a:solidFill>
                <a:latin typeface="Times New Roman"/>
                <a:ea typeface="Times New Roman"/>
                <a:cs typeface="Times New Roman"/>
                <a:sym typeface="Times New Roman"/>
              </a:rPr>
              <a:t>    DATA_DIR = BASE_DIR / "data"</a:t>
            </a:r>
          </a:p>
          <a:p>
            <a:pPr algn="l">
              <a:lnSpc>
                <a:spcPts val="1679"/>
              </a:lnSpc>
            </a:pPr>
            <a:r>
              <a:rPr lang="en-US" sz="1200">
                <a:solidFill>
                  <a:srgbClr val="000000"/>
                </a:solidFill>
                <a:latin typeface="Times New Roman"/>
                <a:ea typeface="Times New Roman"/>
                <a:cs typeface="Times New Roman"/>
                <a:sym typeface="Times New Roman"/>
              </a:rPr>
              <a:t>    MODEL_SAVE_DIR = BASE_DIR / "models"</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BATCH_SIZE = 1</a:t>
            </a:r>
          </a:p>
          <a:p>
            <a:pPr algn="l">
              <a:lnSpc>
                <a:spcPts val="1679"/>
              </a:lnSpc>
            </a:pPr>
            <a:r>
              <a:rPr lang="en-US" sz="1200">
                <a:solidFill>
                  <a:srgbClr val="000000"/>
                </a:solidFill>
                <a:latin typeface="Times New Roman"/>
                <a:ea typeface="Times New Roman"/>
                <a:cs typeface="Times New Roman"/>
                <a:sym typeface="Times New Roman"/>
              </a:rPr>
              <a:t>    EPOCHS = 50</a:t>
            </a:r>
          </a:p>
          <a:p>
            <a:pPr algn="l">
              <a:lnSpc>
                <a:spcPts val="1679"/>
              </a:lnSpc>
            </a:pPr>
            <a:r>
              <a:rPr lang="en-US" sz="1200">
                <a:solidFill>
                  <a:srgbClr val="000000"/>
                </a:solidFill>
                <a:latin typeface="Times New Roman"/>
                <a:ea typeface="Times New Roman"/>
                <a:cs typeface="Times New Roman"/>
                <a:sym typeface="Times New Roman"/>
              </a:rPr>
              <a:t>    LEARNING_RATE = 1e-4</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NUM_CLASSES = 3</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config = Config()</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if torch.cuda.is_available():</a:t>
            </a:r>
          </a:p>
          <a:p>
            <a:pPr algn="l">
              <a:lnSpc>
                <a:spcPts val="1679"/>
              </a:lnSpc>
            </a:pPr>
            <a:r>
              <a:rPr lang="en-US" sz="1200">
                <a:solidFill>
                  <a:srgbClr val="000000"/>
                </a:solidFill>
                <a:latin typeface="Times New Roman"/>
                <a:ea typeface="Times New Roman"/>
                <a:cs typeface="Times New Roman"/>
                <a:sym typeface="Times New Roman"/>
              </a:rPr>
              <a:t>    total_memory = torch.cuda.get_device_properties(0).total_memory</a:t>
            </a:r>
          </a:p>
          <a:p>
            <a:pPr algn="l">
              <a:lnSpc>
                <a:spcPts val="1679"/>
              </a:lnSpc>
            </a:pPr>
            <a:r>
              <a:rPr lang="en-US" sz="1200">
                <a:solidFill>
                  <a:srgbClr val="000000"/>
                </a:solidFill>
                <a:latin typeface="Times New Roman"/>
                <a:ea typeface="Times New Roman"/>
                <a:cs typeface="Times New Roman"/>
                <a:sym typeface="Times New Roman"/>
              </a:rPr>
              <a:t>    print(f"GPU Total VRAM: {total_memory/1e9:.2f} GB")</a:t>
            </a:r>
          </a:p>
          <a:p>
            <a:pPr algn="l">
              <a:lnSpc>
                <a:spcPts val="1679"/>
              </a:lnSpc>
            </a:pPr>
            <a:r>
              <a:rPr lang="en-US" sz="1200">
                <a:solidFill>
                  <a:srgbClr val="000000"/>
                </a:solidFill>
                <a:latin typeface="Times New Roman"/>
                <a:ea typeface="Times New Roman"/>
                <a:cs typeface="Times New Roman"/>
                <a:sym typeface="Times New Roman"/>
              </a:rPr>
              <a:t>else:</a:t>
            </a:r>
          </a:p>
          <a:p>
            <a:pPr algn="l">
              <a:lnSpc>
                <a:spcPts val="1679"/>
              </a:lnSpc>
            </a:pPr>
            <a:r>
              <a:rPr lang="en-US" sz="1200">
                <a:solidFill>
                  <a:srgbClr val="000000"/>
                </a:solidFill>
                <a:latin typeface="Times New Roman"/>
                <a:ea typeface="Times New Roman"/>
                <a:cs typeface="Times New Roman"/>
                <a:sym typeface="Times New Roman"/>
              </a:rPr>
              <a:t>    print("GPU not available")</a:t>
            </a:r>
          </a:p>
          <a:p>
            <a:pPr algn="l">
              <a:lnSpc>
                <a:spcPts val="1679"/>
              </a:lnSpc>
            </a:pPr>
            <a:endParaRPr lang="en-US" sz="1200">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42323" y="-26670"/>
            <a:ext cx="7559221" cy="7341870"/>
          </a:xfrm>
          <a:prstGeom prst="rect">
            <a:avLst/>
          </a:prstGeom>
        </p:spPr>
        <p:txBody>
          <a:bodyPr lIns="0" tIns="0" rIns="0" bIns="0" rtlCol="0" anchor="t">
            <a:spAutoFit/>
          </a:bodyPr>
          <a:lstStyle/>
          <a:p>
            <a:pPr algn="l">
              <a:lnSpc>
                <a:spcPts val="1679"/>
              </a:lnSpc>
            </a:pPr>
            <a:r>
              <a:rPr lang="en-US" sz="1200">
                <a:solidFill>
                  <a:srgbClr val="000000"/>
                </a:solidFill>
                <a:latin typeface="Times New Roman"/>
                <a:ea typeface="Times New Roman"/>
                <a:cs typeface="Times New Roman"/>
                <a:sym typeface="Times New Roman"/>
              </a:rPr>
              <a:t>from scipy.ndimage import zoom</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class KiTSDataset(Dataset):</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def __init__(self, case_ids, data_dir, transform=None):</a:t>
            </a:r>
          </a:p>
          <a:p>
            <a:pPr algn="l">
              <a:lnSpc>
                <a:spcPts val="1679"/>
              </a:lnSpc>
            </a:pPr>
            <a:r>
              <a:rPr lang="en-US" sz="1200">
                <a:solidFill>
                  <a:srgbClr val="000000"/>
                </a:solidFill>
                <a:latin typeface="Times New Roman"/>
                <a:ea typeface="Times New Roman"/>
                <a:cs typeface="Times New Roman"/>
                <a:sym typeface="Times New Roman"/>
              </a:rPr>
              <a:t>        self.case_ids = case_ids</a:t>
            </a:r>
          </a:p>
          <a:p>
            <a:pPr algn="l">
              <a:lnSpc>
                <a:spcPts val="1679"/>
              </a:lnSpc>
            </a:pPr>
            <a:r>
              <a:rPr lang="en-US" sz="1200">
                <a:solidFill>
                  <a:srgbClr val="000000"/>
                </a:solidFill>
                <a:latin typeface="Times New Roman"/>
                <a:ea typeface="Times New Roman"/>
                <a:cs typeface="Times New Roman"/>
                <a:sym typeface="Times New Roman"/>
              </a:rPr>
              <a:t>        self.data_dir = data_dir</a:t>
            </a:r>
          </a:p>
          <a:p>
            <a:pPr algn="l">
              <a:lnSpc>
                <a:spcPts val="1679"/>
              </a:lnSpc>
            </a:pPr>
            <a:r>
              <a:rPr lang="en-US" sz="1200">
                <a:solidFill>
                  <a:srgbClr val="000000"/>
                </a:solidFill>
                <a:latin typeface="Times New Roman"/>
                <a:ea typeface="Times New Roman"/>
                <a:cs typeface="Times New Roman"/>
                <a:sym typeface="Times New Roman"/>
              </a:rPr>
              <a:t>        self.transform = transform</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def load_case(self, case_id):</a:t>
            </a:r>
          </a:p>
          <a:p>
            <a:pPr algn="l">
              <a:lnSpc>
                <a:spcPts val="1679"/>
              </a:lnSpc>
            </a:pPr>
            <a:r>
              <a:rPr lang="en-US" sz="1200">
                <a:solidFill>
                  <a:srgbClr val="000000"/>
                </a:solidFill>
                <a:latin typeface="Times New Roman"/>
                <a:ea typeface="Times New Roman"/>
                <a:cs typeface="Times New Roman"/>
                <a:sym typeface="Times New Roman"/>
              </a:rPr>
              <a:t>        image_path = self.data_dir / case_id / "imaging.nii.gz"</a:t>
            </a:r>
          </a:p>
          <a:p>
            <a:pPr algn="l">
              <a:lnSpc>
                <a:spcPts val="1679"/>
              </a:lnSpc>
            </a:pPr>
            <a:r>
              <a:rPr lang="en-US" sz="1200">
                <a:solidFill>
                  <a:srgbClr val="000000"/>
                </a:solidFill>
                <a:latin typeface="Times New Roman"/>
                <a:ea typeface="Times New Roman"/>
                <a:cs typeface="Times New Roman"/>
                <a:sym typeface="Times New Roman"/>
              </a:rPr>
              <a:t>        label_path = self.data_dir / case_id / "segmentation.nii.gz"</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image = nib.load(str(image_path)).get_fdata()</a:t>
            </a:r>
          </a:p>
          <a:p>
            <a:pPr algn="l">
              <a:lnSpc>
                <a:spcPts val="1679"/>
              </a:lnSpc>
            </a:pPr>
            <a:r>
              <a:rPr lang="en-US" sz="1200">
                <a:solidFill>
                  <a:srgbClr val="000000"/>
                </a:solidFill>
                <a:latin typeface="Times New Roman"/>
                <a:ea typeface="Times New Roman"/>
                <a:cs typeface="Times New Roman"/>
                <a:sym typeface="Times New Roman"/>
              </a:rPr>
              <a:t>        label = nib.load(str(label_path)).get_fdata()</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image = zoom(image, (0.5, 0.5, 0.5))</a:t>
            </a:r>
          </a:p>
          <a:p>
            <a:pPr algn="l">
              <a:lnSpc>
                <a:spcPts val="1679"/>
              </a:lnSpc>
            </a:pPr>
            <a:r>
              <a:rPr lang="en-US" sz="1200">
                <a:solidFill>
                  <a:srgbClr val="000000"/>
                </a:solidFill>
                <a:latin typeface="Times New Roman"/>
                <a:ea typeface="Times New Roman"/>
                <a:cs typeface="Times New Roman"/>
                <a:sym typeface="Times New Roman"/>
              </a:rPr>
              <a:t>        label = zoom(label, (0.5, 0.5, 0.5), order=0)</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image = (image - np.mean(image)) / np.std(image)</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return image, label</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def __len__(self):</a:t>
            </a:r>
          </a:p>
          <a:p>
            <a:pPr algn="l">
              <a:lnSpc>
                <a:spcPts val="1679"/>
              </a:lnSpc>
            </a:pPr>
            <a:r>
              <a:rPr lang="en-US" sz="1200">
                <a:solidFill>
                  <a:srgbClr val="000000"/>
                </a:solidFill>
                <a:latin typeface="Times New Roman"/>
                <a:ea typeface="Times New Roman"/>
                <a:cs typeface="Times New Roman"/>
                <a:sym typeface="Times New Roman"/>
              </a:rPr>
              <a:t>        return len(self.case_ids)</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def __getitem__(self, idx):</a:t>
            </a:r>
          </a:p>
          <a:p>
            <a:pPr algn="l">
              <a:lnSpc>
                <a:spcPts val="1679"/>
              </a:lnSpc>
            </a:pPr>
            <a:r>
              <a:rPr lang="en-US" sz="1200">
                <a:solidFill>
                  <a:srgbClr val="000000"/>
                </a:solidFill>
                <a:latin typeface="Times New Roman"/>
                <a:ea typeface="Times New Roman"/>
                <a:cs typeface="Times New Roman"/>
                <a:sym typeface="Times New Roman"/>
              </a:rPr>
              <a:t>        case_id = self.case_ids[idx]</a:t>
            </a:r>
          </a:p>
          <a:p>
            <a:pPr algn="l">
              <a:lnSpc>
                <a:spcPts val="1679"/>
              </a:lnSpc>
            </a:pPr>
            <a:r>
              <a:rPr lang="en-US" sz="1200">
                <a:solidFill>
                  <a:srgbClr val="000000"/>
                </a:solidFill>
                <a:latin typeface="Times New Roman"/>
                <a:ea typeface="Times New Roman"/>
                <a:cs typeface="Times New Roman"/>
                <a:sym typeface="Times New Roman"/>
              </a:rPr>
              <a:t>        image, label = self.load_case(case_id)</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image = torch.tensor(image, dtype=torch.float32).unsqueeze(0)</a:t>
            </a:r>
          </a:p>
          <a:p>
            <a:pPr algn="l">
              <a:lnSpc>
                <a:spcPts val="1679"/>
              </a:lnSpc>
            </a:pPr>
            <a:r>
              <a:rPr lang="en-US" sz="1200">
                <a:solidFill>
                  <a:srgbClr val="000000"/>
                </a:solidFill>
                <a:latin typeface="Times New Roman"/>
                <a:ea typeface="Times New Roman"/>
                <a:cs typeface="Times New Roman"/>
                <a:sym typeface="Times New Roman"/>
              </a:rPr>
              <a:t>        label = torch.tensor(label, dtype=torch.long)</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return image, label</a:t>
            </a:r>
          </a:p>
          <a:p>
            <a:pPr algn="l">
              <a:lnSpc>
                <a:spcPts val="1679"/>
              </a:lnSpc>
            </a:pPr>
            <a:endParaRPr lang="en-US" sz="1200">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84524" y="73912"/>
            <a:ext cx="7223442" cy="6860716"/>
          </a:xfrm>
          <a:prstGeom prst="rect">
            <a:avLst/>
          </a:prstGeom>
        </p:spPr>
        <p:txBody>
          <a:bodyPr lIns="0" tIns="0" rIns="0" bIns="0" rtlCol="0" anchor="t">
            <a:spAutoFit/>
          </a:bodyPr>
          <a:lstStyle/>
          <a:p>
            <a:pPr algn="l">
              <a:lnSpc>
                <a:spcPts val="1525"/>
              </a:lnSpc>
            </a:pPr>
            <a:r>
              <a:rPr lang="en-US" sz="1089">
                <a:solidFill>
                  <a:srgbClr val="000000"/>
                </a:solidFill>
                <a:latin typeface="Times New Roman"/>
                <a:ea typeface="Times New Roman"/>
                <a:cs typeface="Times New Roman"/>
                <a:sym typeface="Times New Roman"/>
              </a:rPr>
              <a:t>class DiceLoss(nn.Module):</a:t>
            </a:r>
          </a:p>
          <a:p>
            <a:pPr algn="l">
              <a:lnSpc>
                <a:spcPts val="1525"/>
              </a:lnSpc>
            </a:pPr>
            <a:r>
              <a:rPr lang="en-US" sz="1089">
                <a:solidFill>
                  <a:srgbClr val="000000"/>
                </a:solidFill>
                <a:latin typeface="Times New Roman"/>
                <a:ea typeface="Times New Roman"/>
                <a:cs typeface="Times New Roman"/>
                <a:sym typeface="Times New Roman"/>
              </a:rPr>
              <a:t>    """Dice Loss for segmentation"""</a:t>
            </a:r>
          </a:p>
          <a:p>
            <a:pPr algn="l">
              <a:lnSpc>
                <a:spcPts val="1525"/>
              </a:lnSpc>
            </a:pPr>
            <a:endParaRPr lang="en-US" sz="1089">
              <a:solidFill>
                <a:srgbClr val="000000"/>
              </a:solidFill>
              <a:latin typeface="Times New Roman"/>
              <a:ea typeface="Times New Roman"/>
              <a:cs typeface="Times New Roman"/>
              <a:sym typeface="Times New Roman"/>
            </a:endParaRPr>
          </a:p>
          <a:p>
            <a:pPr algn="l">
              <a:lnSpc>
                <a:spcPts val="1525"/>
              </a:lnSpc>
            </a:pPr>
            <a:r>
              <a:rPr lang="en-US" sz="1089">
                <a:solidFill>
                  <a:srgbClr val="000000"/>
                </a:solidFill>
                <a:latin typeface="Times New Roman"/>
                <a:ea typeface="Times New Roman"/>
                <a:cs typeface="Times New Roman"/>
                <a:sym typeface="Times New Roman"/>
              </a:rPr>
              <a:t>    def __init__(self, smooth=1e-5):</a:t>
            </a:r>
          </a:p>
          <a:p>
            <a:pPr algn="l">
              <a:lnSpc>
                <a:spcPts val="1525"/>
              </a:lnSpc>
            </a:pPr>
            <a:r>
              <a:rPr lang="en-US" sz="1089">
                <a:solidFill>
                  <a:srgbClr val="000000"/>
                </a:solidFill>
                <a:latin typeface="Times New Roman"/>
                <a:ea typeface="Times New Roman"/>
                <a:cs typeface="Times New Roman"/>
                <a:sym typeface="Times New Roman"/>
              </a:rPr>
              <a:t>        super(DiceLoss, self).__init__()</a:t>
            </a:r>
          </a:p>
          <a:p>
            <a:pPr algn="l">
              <a:lnSpc>
                <a:spcPts val="1525"/>
              </a:lnSpc>
            </a:pPr>
            <a:r>
              <a:rPr lang="en-US" sz="1089">
                <a:solidFill>
                  <a:srgbClr val="000000"/>
                </a:solidFill>
                <a:latin typeface="Times New Roman"/>
                <a:ea typeface="Times New Roman"/>
                <a:cs typeface="Times New Roman"/>
                <a:sym typeface="Times New Roman"/>
              </a:rPr>
              <a:t>        self.smooth = smooth</a:t>
            </a:r>
          </a:p>
          <a:p>
            <a:pPr algn="l">
              <a:lnSpc>
                <a:spcPts val="1525"/>
              </a:lnSpc>
            </a:pPr>
            <a:endParaRPr lang="en-US" sz="1089">
              <a:solidFill>
                <a:srgbClr val="000000"/>
              </a:solidFill>
              <a:latin typeface="Times New Roman"/>
              <a:ea typeface="Times New Roman"/>
              <a:cs typeface="Times New Roman"/>
              <a:sym typeface="Times New Roman"/>
            </a:endParaRPr>
          </a:p>
          <a:p>
            <a:pPr algn="l">
              <a:lnSpc>
                <a:spcPts val="1525"/>
              </a:lnSpc>
            </a:pPr>
            <a:r>
              <a:rPr lang="en-US" sz="1089">
                <a:solidFill>
                  <a:srgbClr val="000000"/>
                </a:solidFill>
                <a:latin typeface="Times New Roman"/>
                <a:ea typeface="Times New Roman"/>
                <a:cs typeface="Times New Roman"/>
                <a:sym typeface="Times New Roman"/>
              </a:rPr>
              <a:t>    def forward(self, pred, target):</a:t>
            </a:r>
          </a:p>
          <a:p>
            <a:pPr algn="l">
              <a:lnSpc>
                <a:spcPts val="1525"/>
              </a:lnSpc>
            </a:pPr>
            <a:r>
              <a:rPr lang="en-US" sz="1089">
                <a:solidFill>
                  <a:srgbClr val="000000"/>
                </a:solidFill>
                <a:latin typeface="Times New Roman"/>
                <a:ea typeface="Times New Roman"/>
                <a:cs typeface="Times New Roman"/>
                <a:sym typeface="Times New Roman"/>
              </a:rPr>
              <a:t>        pred = torch.softmax(pred, dim=1)</a:t>
            </a:r>
          </a:p>
          <a:p>
            <a:pPr algn="l">
              <a:lnSpc>
                <a:spcPts val="1525"/>
              </a:lnSpc>
            </a:pPr>
            <a:r>
              <a:rPr lang="en-US" sz="1089">
                <a:solidFill>
                  <a:srgbClr val="000000"/>
                </a:solidFill>
                <a:latin typeface="Times New Roman"/>
                <a:ea typeface="Times New Roman"/>
                <a:cs typeface="Times New Roman"/>
                <a:sym typeface="Times New Roman"/>
              </a:rPr>
              <a:t>        dice_loss = 0</a:t>
            </a:r>
          </a:p>
          <a:p>
            <a:pPr algn="l">
              <a:lnSpc>
                <a:spcPts val="1525"/>
              </a:lnSpc>
            </a:pPr>
            <a:endParaRPr lang="en-US" sz="1089">
              <a:solidFill>
                <a:srgbClr val="000000"/>
              </a:solidFill>
              <a:latin typeface="Times New Roman"/>
              <a:ea typeface="Times New Roman"/>
              <a:cs typeface="Times New Roman"/>
              <a:sym typeface="Times New Roman"/>
            </a:endParaRPr>
          </a:p>
          <a:p>
            <a:pPr algn="l">
              <a:lnSpc>
                <a:spcPts val="1525"/>
              </a:lnSpc>
            </a:pPr>
            <a:r>
              <a:rPr lang="en-US" sz="1089">
                <a:solidFill>
                  <a:srgbClr val="000000"/>
                </a:solidFill>
                <a:latin typeface="Times New Roman"/>
                <a:ea typeface="Times New Roman"/>
                <a:cs typeface="Times New Roman"/>
                <a:sym typeface="Times New Roman"/>
              </a:rPr>
              <a:t>        for c in range(pred.shape[1]):</a:t>
            </a:r>
          </a:p>
          <a:p>
            <a:pPr algn="l">
              <a:lnSpc>
                <a:spcPts val="1525"/>
              </a:lnSpc>
            </a:pPr>
            <a:r>
              <a:rPr lang="en-US" sz="1089">
                <a:solidFill>
                  <a:srgbClr val="000000"/>
                </a:solidFill>
                <a:latin typeface="Times New Roman"/>
                <a:ea typeface="Times New Roman"/>
                <a:cs typeface="Times New Roman"/>
                <a:sym typeface="Times New Roman"/>
              </a:rPr>
              <a:t>            pred_c = pred[:, c].contiguous().view(-1)</a:t>
            </a:r>
          </a:p>
          <a:p>
            <a:pPr algn="l">
              <a:lnSpc>
                <a:spcPts val="1525"/>
              </a:lnSpc>
            </a:pPr>
            <a:r>
              <a:rPr lang="en-US" sz="1089">
                <a:solidFill>
                  <a:srgbClr val="000000"/>
                </a:solidFill>
                <a:latin typeface="Times New Roman"/>
                <a:ea typeface="Times New Roman"/>
                <a:cs typeface="Times New Roman"/>
                <a:sym typeface="Times New Roman"/>
              </a:rPr>
              <a:t>            target_c = (target == c).float().contiguous().view(-1)</a:t>
            </a:r>
          </a:p>
          <a:p>
            <a:pPr algn="l">
              <a:lnSpc>
                <a:spcPts val="1525"/>
              </a:lnSpc>
            </a:pPr>
            <a:endParaRPr lang="en-US" sz="1089">
              <a:solidFill>
                <a:srgbClr val="000000"/>
              </a:solidFill>
              <a:latin typeface="Times New Roman"/>
              <a:ea typeface="Times New Roman"/>
              <a:cs typeface="Times New Roman"/>
              <a:sym typeface="Times New Roman"/>
            </a:endParaRPr>
          </a:p>
          <a:p>
            <a:pPr algn="l">
              <a:lnSpc>
                <a:spcPts val="1525"/>
              </a:lnSpc>
            </a:pPr>
            <a:r>
              <a:rPr lang="en-US" sz="1089">
                <a:solidFill>
                  <a:srgbClr val="000000"/>
                </a:solidFill>
                <a:latin typeface="Times New Roman"/>
                <a:ea typeface="Times New Roman"/>
                <a:cs typeface="Times New Roman"/>
                <a:sym typeface="Times New Roman"/>
              </a:rPr>
              <a:t>            intersection = (pred_c * target_c).sum()</a:t>
            </a:r>
          </a:p>
          <a:p>
            <a:pPr algn="l">
              <a:lnSpc>
                <a:spcPts val="1525"/>
              </a:lnSpc>
            </a:pPr>
            <a:r>
              <a:rPr lang="en-US" sz="1089">
                <a:solidFill>
                  <a:srgbClr val="000000"/>
                </a:solidFill>
                <a:latin typeface="Times New Roman"/>
                <a:ea typeface="Times New Roman"/>
                <a:cs typeface="Times New Roman"/>
                <a:sym typeface="Times New Roman"/>
              </a:rPr>
              <a:t>            dice = (2.0 * intersection + self.smooth) / (</a:t>
            </a:r>
          </a:p>
          <a:p>
            <a:pPr algn="l">
              <a:lnSpc>
                <a:spcPts val="1525"/>
              </a:lnSpc>
            </a:pPr>
            <a:r>
              <a:rPr lang="en-US" sz="1089">
                <a:solidFill>
                  <a:srgbClr val="000000"/>
                </a:solidFill>
                <a:latin typeface="Times New Roman"/>
                <a:ea typeface="Times New Roman"/>
                <a:cs typeface="Times New Roman"/>
                <a:sym typeface="Times New Roman"/>
              </a:rPr>
              <a:t>                pred_c.sum() + target_c.sum() + self.smooth</a:t>
            </a:r>
          </a:p>
          <a:p>
            <a:pPr algn="l">
              <a:lnSpc>
                <a:spcPts val="1525"/>
              </a:lnSpc>
            </a:pPr>
            <a:r>
              <a:rPr lang="en-US" sz="1089">
                <a:solidFill>
                  <a:srgbClr val="000000"/>
                </a:solidFill>
                <a:latin typeface="Times New Roman"/>
                <a:ea typeface="Times New Roman"/>
                <a:cs typeface="Times New Roman"/>
                <a:sym typeface="Times New Roman"/>
              </a:rPr>
              <a:t>            )</a:t>
            </a:r>
          </a:p>
          <a:p>
            <a:pPr algn="l">
              <a:lnSpc>
                <a:spcPts val="1525"/>
              </a:lnSpc>
            </a:pPr>
            <a:r>
              <a:rPr lang="en-US" sz="1089">
                <a:solidFill>
                  <a:srgbClr val="000000"/>
                </a:solidFill>
                <a:latin typeface="Times New Roman"/>
                <a:ea typeface="Times New Roman"/>
                <a:cs typeface="Times New Roman"/>
                <a:sym typeface="Times New Roman"/>
              </a:rPr>
              <a:t>            dice_loss += (1 - dice)</a:t>
            </a:r>
          </a:p>
          <a:p>
            <a:pPr algn="l">
              <a:lnSpc>
                <a:spcPts val="1525"/>
              </a:lnSpc>
            </a:pPr>
            <a:endParaRPr lang="en-US" sz="1089">
              <a:solidFill>
                <a:srgbClr val="000000"/>
              </a:solidFill>
              <a:latin typeface="Times New Roman"/>
              <a:ea typeface="Times New Roman"/>
              <a:cs typeface="Times New Roman"/>
              <a:sym typeface="Times New Roman"/>
            </a:endParaRPr>
          </a:p>
          <a:p>
            <a:pPr algn="l">
              <a:lnSpc>
                <a:spcPts val="1525"/>
              </a:lnSpc>
            </a:pPr>
            <a:r>
              <a:rPr lang="en-US" sz="1089">
                <a:solidFill>
                  <a:srgbClr val="000000"/>
                </a:solidFill>
                <a:latin typeface="Times New Roman"/>
                <a:ea typeface="Times New Roman"/>
                <a:cs typeface="Times New Roman"/>
                <a:sym typeface="Times New Roman"/>
              </a:rPr>
              <a:t>        return dice_loss / pred.shape[1]</a:t>
            </a:r>
          </a:p>
          <a:p>
            <a:pPr algn="l">
              <a:lnSpc>
                <a:spcPts val="1525"/>
              </a:lnSpc>
            </a:pPr>
            <a:r>
              <a:rPr lang="en-US" sz="1089">
                <a:solidFill>
                  <a:srgbClr val="000000"/>
                </a:solidFill>
                <a:latin typeface="Times New Roman"/>
                <a:ea typeface="Times New Roman"/>
                <a:cs typeface="Times New Roman"/>
                <a:sym typeface="Times New Roman"/>
              </a:rPr>
              <a:t>def calculate_dice_score(pred, target, num_classes=3):</a:t>
            </a:r>
          </a:p>
          <a:p>
            <a:pPr algn="l">
              <a:lnSpc>
                <a:spcPts val="1525"/>
              </a:lnSpc>
            </a:pPr>
            <a:endParaRPr lang="en-US" sz="1089">
              <a:solidFill>
                <a:srgbClr val="000000"/>
              </a:solidFill>
              <a:latin typeface="Times New Roman"/>
              <a:ea typeface="Times New Roman"/>
              <a:cs typeface="Times New Roman"/>
              <a:sym typeface="Times New Roman"/>
            </a:endParaRPr>
          </a:p>
          <a:p>
            <a:pPr algn="l">
              <a:lnSpc>
                <a:spcPts val="1525"/>
              </a:lnSpc>
            </a:pPr>
            <a:r>
              <a:rPr lang="en-US" sz="1089">
                <a:solidFill>
                  <a:srgbClr val="000000"/>
                </a:solidFill>
                <a:latin typeface="Times New Roman"/>
                <a:ea typeface="Times New Roman"/>
                <a:cs typeface="Times New Roman"/>
                <a:sym typeface="Times New Roman"/>
              </a:rPr>
              <a:t>    pred = torch.argmax(pred, dim=1)</a:t>
            </a:r>
          </a:p>
          <a:p>
            <a:pPr algn="l">
              <a:lnSpc>
                <a:spcPts val="1525"/>
              </a:lnSpc>
            </a:pPr>
            <a:endParaRPr lang="en-US" sz="1089">
              <a:solidFill>
                <a:srgbClr val="000000"/>
              </a:solidFill>
              <a:latin typeface="Times New Roman"/>
              <a:ea typeface="Times New Roman"/>
              <a:cs typeface="Times New Roman"/>
              <a:sym typeface="Times New Roman"/>
            </a:endParaRPr>
          </a:p>
          <a:p>
            <a:pPr algn="l">
              <a:lnSpc>
                <a:spcPts val="1525"/>
              </a:lnSpc>
            </a:pPr>
            <a:r>
              <a:rPr lang="en-US" sz="1089">
                <a:solidFill>
                  <a:srgbClr val="000000"/>
                </a:solidFill>
                <a:latin typeface="Times New Roman"/>
                <a:ea typeface="Times New Roman"/>
                <a:cs typeface="Times New Roman"/>
                <a:sym typeface="Times New Roman"/>
              </a:rPr>
              <a:t>    dice_scores = []</a:t>
            </a:r>
          </a:p>
          <a:p>
            <a:pPr algn="l">
              <a:lnSpc>
                <a:spcPts val="1525"/>
              </a:lnSpc>
            </a:pPr>
            <a:r>
              <a:rPr lang="en-US" sz="1089">
                <a:solidFill>
                  <a:srgbClr val="000000"/>
                </a:solidFill>
                <a:latin typeface="Times New Roman"/>
                <a:ea typeface="Times New Roman"/>
                <a:cs typeface="Times New Roman"/>
                <a:sym typeface="Times New Roman"/>
              </a:rPr>
              <a:t>    for c in range(num_classes):</a:t>
            </a:r>
          </a:p>
          <a:p>
            <a:pPr algn="l">
              <a:lnSpc>
                <a:spcPts val="1525"/>
              </a:lnSpc>
            </a:pPr>
            <a:r>
              <a:rPr lang="en-US" sz="1089">
                <a:solidFill>
                  <a:srgbClr val="000000"/>
                </a:solidFill>
                <a:latin typeface="Times New Roman"/>
                <a:ea typeface="Times New Roman"/>
                <a:cs typeface="Times New Roman"/>
                <a:sym typeface="Times New Roman"/>
              </a:rPr>
              <a:t>        pred_c = (pred == c).float()</a:t>
            </a:r>
          </a:p>
          <a:p>
            <a:pPr algn="l">
              <a:lnSpc>
                <a:spcPts val="1525"/>
              </a:lnSpc>
            </a:pPr>
            <a:r>
              <a:rPr lang="en-US" sz="1089">
                <a:solidFill>
                  <a:srgbClr val="000000"/>
                </a:solidFill>
                <a:latin typeface="Times New Roman"/>
                <a:ea typeface="Times New Roman"/>
                <a:cs typeface="Times New Roman"/>
                <a:sym typeface="Times New Roman"/>
              </a:rPr>
              <a:t>        target_c = (target == c).float()</a:t>
            </a:r>
          </a:p>
          <a:p>
            <a:pPr algn="l">
              <a:lnSpc>
                <a:spcPts val="1525"/>
              </a:lnSpc>
            </a:pPr>
            <a:endParaRPr lang="en-US" sz="1089">
              <a:solidFill>
                <a:srgbClr val="000000"/>
              </a:solidFill>
              <a:latin typeface="Times New Roman"/>
              <a:ea typeface="Times New Roman"/>
              <a:cs typeface="Times New Roman"/>
              <a:sym typeface="Times New Roman"/>
            </a:endParaRPr>
          </a:p>
          <a:p>
            <a:pPr algn="l">
              <a:lnSpc>
                <a:spcPts val="1525"/>
              </a:lnSpc>
            </a:pPr>
            <a:r>
              <a:rPr lang="en-US" sz="1089">
                <a:solidFill>
                  <a:srgbClr val="000000"/>
                </a:solidFill>
                <a:latin typeface="Times New Roman"/>
                <a:ea typeface="Times New Roman"/>
                <a:cs typeface="Times New Roman"/>
                <a:sym typeface="Times New Roman"/>
              </a:rPr>
              <a:t>        intersection = (pred_c * target_c).sum()</a:t>
            </a:r>
          </a:p>
          <a:p>
            <a:pPr algn="l">
              <a:lnSpc>
                <a:spcPts val="1525"/>
              </a:lnSpc>
            </a:pPr>
            <a:r>
              <a:rPr lang="en-US" sz="1089">
                <a:solidFill>
                  <a:srgbClr val="000000"/>
                </a:solidFill>
                <a:latin typeface="Times New Roman"/>
                <a:ea typeface="Times New Roman"/>
                <a:cs typeface="Times New Roman"/>
                <a:sym typeface="Times New Roman"/>
              </a:rPr>
              <a:t>        dice = (2 * intersection) / (pred_c.sum() + target_c.sum() + 1e-8)</a:t>
            </a:r>
          </a:p>
          <a:p>
            <a:pPr algn="l">
              <a:lnSpc>
                <a:spcPts val="1525"/>
              </a:lnSpc>
            </a:pPr>
            <a:r>
              <a:rPr lang="en-US" sz="1089">
                <a:solidFill>
                  <a:srgbClr val="000000"/>
                </a:solidFill>
                <a:latin typeface="Times New Roman"/>
                <a:ea typeface="Times New Roman"/>
                <a:cs typeface="Times New Roman"/>
                <a:sym typeface="Times New Roman"/>
              </a:rPr>
              <a:t>        dice_scores.append(dice.item())</a:t>
            </a:r>
          </a:p>
          <a:p>
            <a:pPr algn="l">
              <a:lnSpc>
                <a:spcPts val="1525"/>
              </a:lnSpc>
            </a:pPr>
            <a:endParaRPr lang="en-US" sz="1089">
              <a:solidFill>
                <a:srgbClr val="000000"/>
              </a:solidFill>
              <a:latin typeface="Times New Roman"/>
              <a:ea typeface="Times New Roman"/>
              <a:cs typeface="Times New Roman"/>
              <a:sym typeface="Times New Roman"/>
            </a:endParaRPr>
          </a:p>
          <a:p>
            <a:pPr algn="l">
              <a:lnSpc>
                <a:spcPts val="1525"/>
              </a:lnSpc>
            </a:pPr>
            <a:r>
              <a:rPr lang="en-US" sz="1089">
                <a:solidFill>
                  <a:srgbClr val="000000"/>
                </a:solidFill>
                <a:latin typeface="Times New Roman"/>
                <a:ea typeface="Times New Roman"/>
                <a:cs typeface="Times New Roman"/>
                <a:sym typeface="Times New Roman"/>
              </a:rPr>
              <a:t>    return dice_scores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5682" y="-26670"/>
            <a:ext cx="7896875" cy="7341870"/>
          </a:xfrm>
          <a:prstGeom prst="rect">
            <a:avLst/>
          </a:prstGeom>
        </p:spPr>
        <p:txBody>
          <a:bodyPr lIns="0" tIns="0" rIns="0" bIns="0" rtlCol="0" anchor="t">
            <a:spAutoFit/>
          </a:bodyPr>
          <a:lstStyle/>
          <a:p>
            <a:pPr algn="l">
              <a:lnSpc>
                <a:spcPts val="1679"/>
              </a:lnSpc>
            </a:pPr>
            <a:r>
              <a:rPr lang="en-US" sz="1200">
                <a:solidFill>
                  <a:srgbClr val="000000"/>
                </a:solidFill>
                <a:latin typeface="Times New Roman"/>
                <a:ea typeface="Times New Roman"/>
                <a:cs typeface="Times New Roman"/>
                <a:sym typeface="Times New Roman"/>
              </a:rPr>
              <a:t>def train_epoch(model, dataloader, criterion, optimizer, device):</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model.train()</a:t>
            </a:r>
          </a:p>
          <a:p>
            <a:pPr algn="l">
              <a:lnSpc>
                <a:spcPts val="1679"/>
              </a:lnSpc>
            </a:pPr>
            <a:r>
              <a:rPr lang="en-US" sz="1200">
                <a:solidFill>
                  <a:srgbClr val="000000"/>
                </a:solidFill>
                <a:latin typeface="Times New Roman"/>
                <a:ea typeface="Times New Roman"/>
                <a:cs typeface="Times New Roman"/>
                <a:sym typeface="Times New Roman"/>
              </a:rPr>
              <a:t>    running_loss = 0</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for images, labels in tqdm(dataloader):</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images = images.to(device)</a:t>
            </a:r>
          </a:p>
          <a:p>
            <a:pPr algn="l">
              <a:lnSpc>
                <a:spcPts val="1679"/>
              </a:lnSpc>
            </a:pPr>
            <a:r>
              <a:rPr lang="en-US" sz="1200">
                <a:solidFill>
                  <a:srgbClr val="000000"/>
                </a:solidFill>
                <a:latin typeface="Times New Roman"/>
                <a:ea typeface="Times New Roman"/>
                <a:cs typeface="Times New Roman"/>
                <a:sym typeface="Times New Roman"/>
              </a:rPr>
              <a:t>        labels = labels.to(device)</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optimizer.zero_grad()</a:t>
            </a:r>
          </a:p>
          <a:p>
            <a:pPr algn="l">
              <a:lnSpc>
                <a:spcPts val="1679"/>
              </a:lnSpc>
            </a:pPr>
            <a:r>
              <a:rPr lang="en-US" sz="1200">
                <a:solidFill>
                  <a:srgbClr val="000000"/>
                </a:solidFill>
                <a:latin typeface="Times New Roman"/>
                <a:ea typeface="Times New Roman"/>
                <a:cs typeface="Times New Roman"/>
                <a:sym typeface="Times New Roman"/>
              </a:rPr>
              <a:t>        outputs = model(images)</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loss = criterion(outputs, labels)</a:t>
            </a:r>
          </a:p>
          <a:p>
            <a:pPr algn="l">
              <a:lnSpc>
                <a:spcPts val="1679"/>
              </a:lnSpc>
            </a:pPr>
            <a:r>
              <a:rPr lang="en-US" sz="1200">
                <a:solidFill>
                  <a:srgbClr val="000000"/>
                </a:solidFill>
                <a:latin typeface="Times New Roman"/>
                <a:ea typeface="Times New Roman"/>
                <a:cs typeface="Times New Roman"/>
                <a:sym typeface="Times New Roman"/>
              </a:rPr>
              <a:t>        loss.backward()</a:t>
            </a:r>
          </a:p>
          <a:p>
            <a:pPr algn="l">
              <a:lnSpc>
                <a:spcPts val="1679"/>
              </a:lnSpc>
            </a:pPr>
            <a:r>
              <a:rPr lang="en-US" sz="1200">
                <a:solidFill>
                  <a:srgbClr val="000000"/>
                </a:solidFill>
                <a:latin typeface="Times New Roman"/>
                <a:ea typeface="Times New Roman"/>
                <a:cs typeface="Times New Roman"/>
                <a:sym typeface="Times New Roman"/>
              </a:rPr>
              <a:t>        optimizer.step()</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running_loss += loss.item()</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return running_loss / len(dataloader)</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def get_valid_case_ids(data_dir):</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case_ids = []</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for case in data_dir.iterdir():</a:t>
            </a:r>
          </a:p>
          <a:p>
            <a:pPr algn="l">
              <a:lnSpc>
                <a:spcPts val="1679"/>
              </a:lnSpc>
            </a:pPr>
            <a:r>
              <a:rPr lang="en-US" sz="1200">
                <a:solidFill>
                  <a:srgbClr val="000000"/>
                </a:solidFill>
                <a:latin typeface="Times New Roman"/>
                <a:ea typeface="Times New Roman"/>
                <a:cs typeface="Times New Roman"/>
                <a:sym typeface="Times New Roman"/>
              </a:rPr>
              <a:t>        if (case / "imaging.nii.gz").exists() and (case / "segmentation.nii.gz").exists():</a:t>
            </a:r>
          </a:p>
          <a:p>
            <a:pPr algn="l">
              <a:lnSpc>
                <a:spcPts val="1679"/>
              </a:lnSpc>
            </a:pPr>
            <a:r>
              <a:rPr lang="en-US" sz="1200">
                <a:solidFill>
                  <a:srgbClr val="000000"/>
                </a:solidFill>
                <a:latin typeface="Times New Roman"/>
                <a:ea typeface="Times New Roman"/>
                <a:cs typeface="Times New Roman"/>
                <a:sym typeface="Times New Roman"/>
              </a:rPr>
              <a:t>            case_ids.append(case.name)</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print("Valid case IDs found:")</a:t>
            </a:r>
          </a:p>
          <a:p>
            <a:pPr algn="l">
              <a:lnSpc>
                <a:spcPts val="1679"/>
              </a:lnSpc>
            </a:pPr>
            <a:r>
              <a:rPr lang="en-US" sz="1200">
                <a:solidFill>
                  <a:srgbClr val="000000"/>
                </a:solidFill>
                <a:latin typeface="Times New Roman"/>
                <a:ea typeface="Times New Roman"/>
                <a:cs typeface="Times New Roman"/>
                <a:sym typeface="Times New Roman"/>
              </a:rPr>
              <a:t>    for cid in case_ids:</a:t>
            </a:r>
          </a:p>
          <a:p>
            <a:pPr algn="l">
              <a:lnSpc>
                <a:spcPts val="1679"/>
              </a:lnSpc>
            </a:pPr>
            <a:r>
              <a:rPr lang="en-US" sz="1200">
                <a:solidFill>
                  <a:srgbClr val="000000"/>
                </a:solidFill>
                <a:latin typeface="Times New Roman"/>
                <a:ea typeface="Times New Roman"/>
                <a:cs typeface="Times New Roman"/>
                <a:sym typeface="Times New Roman"/>
              </a:rPr>
              <a:t>        print(cid)</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print(f"Total: {len(case_ids)} cases ready for training")</a:t>
            </a:r>
          </a:p>
          <a:p>
            <a:pPr algn="l">
              <a:lnSpc>
                <a:spcPts val="1679"/>
              </a:lnSpc>
            </a:pPr>
            <a:endParaRPr lang="en-US" sz="1200">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9796" y="225264"/>
            <a:ext cx="6209542" cy="5536877"/>
          </a:xfrm>
          <a:prstGeom prst="rect">
            <a:avLst/>
          </a:prstGeom>
        </p:spPr>
        <p:txBody>
          <a:bodyPr lIns="0" tIns="0" rIns="0" bIns="0" rtlCol="0" anchor="t">
            <a:spAutoFit/>
          </a:bodyPr>
          <a:lstStyle/>
          <a:p>
            <a:pPr algn="l">
              <a:lnSpc>
                <a:spcPts val="1844"/>
              </a:lnSpc>
            </a:pPr>
            <a:r>
              <a:rPr lang="en-US" sz="1317">
                <a:solidFill>
                  <a:srgbClr val="000000"/>
                </a:solidFill>
                <a:latin typeface="Times New Roman"/>
                <a:ea typeface="Times New Roman"/>
                <a:cs typeface="Times New Roman"/>
                <a:sym typeface="Times New Roman"/>
              </a:rPr>
              <a:t>print("To start training, uncomment the line above and run")</a:t>
            </a:r>
          </a:p>
          <a:p>
            <a:pPr algn="l">
              <a:lnSpc>
                <a:spcPts val="1844"/>
              </a:lnSpc>
            </a:pPr>
            <a:r>
              <a:rPr lang="en-US" sz="1317">
                <a:solidFill>
                  <a:srgbClr val="000000"/>
                </a:solidFill>
                <a:latin typeface="Times New Roman"/>
                <a:ea typeface="Times New Roman"/>
                <a:cs typeface="Times New Roman"/>
                <a:sym typeface="Times New Roman"/>
              </a:rPr>
              <a:t>print("Make sure you have downloaded the KiTS dataset first!")</a:t>
            </a:r>
          </a:p>
          <a:p>
            <a:pPr algn="l">
              <a:lnSpc>
                <a:spcPts val="1844"/>
              </a:lnSpc>
            </a:pPr>
            <a:endParaRPr lang="en-US" sz="1317">
              <a:solidFill>
                <a:srgbClr val="000000"/>
              </a:solidFill>
              <a:latin typeface="Times New Roman"/>
              <a:ea typeface="Times New Roman"/>
              <a:cs typeface="Times New Roman"/>
              <a:sym typeface="Times New Roman"/>
            </a:endParaRPr>
          </a:p>
          <a:p>
            <a:pPr algn="l">
              <a:lnSpc>
                <a:spcPts val="1844"/>
              </a:lnSpc>
            </a:pPr>
            <a:endParaRPr lang="en-US" sz="1317">
              <a:solidFill>
                <a:srgbClr val="000000"/>
              </a:solidFill>
              <a:latin typeface="Times New Roman"/>
              <a:ea typeface="Times New Roman"/>
              <a:cs typeface="Times New Roman"/>
              <a:sym typeface="Times New Roman"/>
            </a:endParaRPr>
          </a:p>
          <a:p>
            <a:pPr algn="l">
              <a:lnSpc>
                <a:spcPts val="1844"/>
              </a:lnSpc>
            </a:pPr>
            <a:r>
              <a:rPr lang="en-US" sz="1317">
                <a:solidFill>
                  <a:srgbClr val="000000"/>
                </a:solidFill>
                <a:latin typeface="Times New Roman"/>
                <a:ea typeface="Times New Roman"/>
                <a:cs typeface="Times New Roman"/>
                <a:sym typeface="Times New Roman"/>
              </a:rPr>
              <a:t>def plot_history(history):</a:t>
            </a:r>
          </a:p>
          <a:p>
            <a:pPr algn="l">
              <a:lnSpc>
                <a:spcPts val="1844"/>
              </a:lnSpc>
            </a:pPr>
            <a:endParaRPr lang="en-US" sz="1317">
              <a:solidFill>
                <a:srgbClr val="000000"/>
              </a:solidFill>
              <a:latin typeface="Times New Roman"/>
              <a:ea typeface="Times New Roman"/>
              <a:cs typeface="Times New Roman"/>
              <a:sym typeface="Times New Roman"/>
            </a:endParaRPr>
          </a:p>
          <a:p>
            <a:pPr algn="l">
              <a:lnSpc>
                <a:spcPts val="1844"/>
              </a:lnSpc>
            </a:pPr>
            <a:r>
              <a:rPr lang="en-US" sz="1317">
                <a:solidFill>
                  <a:srgbClr val="000000"/>
                </a:solidFill>
                <a:latin typeface="Times New Roman"/>
                <a:ea typeface="Times New Roman"/>
                <a:cs typeface="Times New Roman"/>
                <a:sym typeface="Times New Roman"/>
              </a:rPr>
              <a:t>    losses = history["loss"]</a:t>
            </a:r>
          </a:p>
          <a:p>
            <a:pPr algn="l">
              <a:lnSpc>
                <a:spcPts val="1844"/>
              </a:lnSpc>
            </a:pPr>
            <a:r>
              <a:rPr lang="en-US" sz="1317">
                <a:solidFill>
                  <a:srgbClr val="000000"/>
                </a:solidFill>
                <a:latin typeface="Times New Roman"/>
                <a:ea typeface="Times New Roman"/>
                <a:cs typeface="Times New Roman"/>
                <a:sym typeface="Times New Roman"/>
              </a:rPr>
              <a:t>    val_losses = history["val_loss"]</a:t>
            </a:r>
          </a:p>
          <a:p>
            <a:pPr algn="l">
              <a:lnSpc>
                <a:spcPts val="1844"/>
              </a:lnSpc>
            </a:pPr>
            <a:endParaRPr lang="en-US" sz="1317">
              <a:solidFill>
                <a:srgbClr val="000000"/>
              </a:solidFill>
              <a:latin typeface="Times New Roman"/>
              <a:ea typeface="Times New Roman"/>
              <a:cs typeface="Times New Roman"/>
              <a:sym typeface="Times New Roman"/>
            </a:endParaRPr>
          </a:p>
          <a:p>
            <a:pPr algn="l">
              <a:lnSpc>
                <a:spcPts val="1844"/>
              </a:lnSpc>
            </a:pPr>
            <a:r>
              <a:rPr lang="en-US" sz="1317">
                <a:solidFill>
                  <a:srgbClr val="000000"/>
                </a:solidFill>
                <a:latin typeface="Times New Roman"/>
                <a:ea typeface="Times New Roman"/>
                <a:cs typeface="Times New Roman"/>
                <a:sym typeface="Times New Roman"/>
              </a:rPr>
              <a:t>    plt.plot(losses, label="Train Loss")</a:t>
            </a:r>
          </a:p>
          <a:p>
            <a:pPr algn="l">
              <a:lnSpc>
                <a:spcPts val="1844"/>
              </a:lnSpc>
            </a:pPr>
            <a:r>
              <a:rPr lang="en-US" sz="1317">
                <a:solidFill>
                  <a:srgbClr val="000000"/>
                </a:solidFill>
                <a:latin typeface="Times New Roman"/>
                <a:ea typeface="Times New Roman"/>
                <a:cs typeface="Times New Roman"/>
                <a:sym typeface="Times New Roman"/>
              </a:rPr>
              <a:t>    plt.plot(val_losses, label="Val Loss")</a:t>
            </a:r>
          </a:p>
          <a:p>
            <a:pPr algn="l">
              <a:lnSpc>
                <a:spcPts val="1844"/>
              </a:lnSpc>
            </a:pPr>
            <a:r>
              <a:rPr lang="en-US" sz="1317">
                <a:solidFill>
                  <a:srgbClr val="000000"/>
                </a:solidFill>
                <a:latin typeface="Times New Roman"/>
                <a:ea typeface="Times New Roman"/>
                <a:cs typeface="Times New Roman"/>
                <a:sym typeface="Times New Roman"/>
              </a:rPr>
              <a:t>    plt.legend()</a:t>
            </a:r>
          </a:p>
          <a:p>
            <a:pPr algn="l">
              <a:lnSpc>
                <a:spcPts val="1844"/>
              </a:lnSpc>
            </a:pPr>
            <a:r>
              <a:rPr lang="en-US" sz="1317">
                <a:solidFill>
                  <a:srgbClr val="000000"/>
                </a:solidFill>
                <a:latin typeface="Times New Roman"/>
                <a:ea typeface="Times New Roman"/>
                <a:cs typeface="Times New Roman"/>
                <a:sym typeface="Times New Roman"/>
              </a:rPr>
              <a:t>    plt.savefig("training_history.png")</a:t>
            </a:r>
          </a:p>
          <a:p>
            <a:pPr algn="l">
              <a:lnSpc>
                <a:spcPts val="1844"/>
              </a:lnSpc>
            </a:pPr>
            <a:endParaRPr lang="en-US" sz="1317">
              <a:solidFill>
                <a:srgbClr val="000000"/>
              </a:solidFill>
              <a:latin typeface="Times New Roman"/>
              <a:ea typeface="Times New Roman"/>
              <a:cs typeface="Times New Roman"/>
              <a:sym typeface="Times New Roman"/>
            </a:endParaRPr>
          </a:p>
          <a:p>
            <a:pPr algn="l">
              <a:lnSpc>
                <a:spcPts val="1844"/>
              </a:lnSpc>
            </a:pPr>
            <a:endParaRPr lang="en-US" sz="1317">
              <a:solidFill>
                <a:srgbClr val="000000"/>
              </a:solidFill>
              <a:latin typeface="Times New Roman"/>
              <a:ea typeface="Times New Roman"/>
              <a:cs typeface="Times New Roman"/>
              <a:sym typeface="Times New Roman"/>
            </a:endParaRPr>
          </a:p>
          <a:p>
            <a:pPr algn="l">
              <a:lnSpc>
                <a:spcPts val="1844"/>
              </a:lnSpc>
            </a:pPr>
            <a:r>
              <a:rPr lang="en-US" sz="1317">
                <a:solidFill>
                  <a:srgbClr val="000000"/>
                </a:solidFill>
                <a:latin typeface="Times New Roman"/>
                <a:ea typeface="Times New Roman"/>
                <a:cs typeface="Times New Roman"/>
                <a:sym typeface="Times New Roman"/>
              </a:rPr>
              <a:t>def load_trained_model(model_path):</a:t>
            </a:r>
          </a:p>
          <a:p>
            <a:pPr algn="l">
              <a:lnSpc>
                <a:spcPts val="1844"/>
              </a:lnSpc>
            </a:pPr>
            <a:endParaRPr lang="en-US" sz="1317">
              <a:solidFill>
                <a:srgbClr val="000000"/>
              </a:solidFill>
              <a:latin typeface="Times New Roman"/>
              <a:ea typeface="Times New Roman"/>
              <a:cs typeface="Times New Roman"/>
              <a:sym typeface="Times New Roman"/>
            </a:endParaRPr>
          </a:p>
          <a:p>
            <a:pPr algn="l">
              <a:lnSpc>
                <a:spcPts val="1844"/>
              </a:lnSpc>
            </a:pPr>
            <a:r>
              <a:rPr lang="en-US" sz="1317">
                <a:solidFill>
                  <a:srgbClr val="000000"/>
                </a:solidFill>
                <a:latin typeface="Times New Roman"/>
                <a:ea typeface="Times New Roman"/>
                <a:cs typeface="Times New Roman"/>
                <a:sym typeface="Times New Roman"/>
              </a:rPr>
              <a:t>    model = UNet3D(in_channels=1, out_channels=3)</a:t>
            </a:r>
          </a:p>
          <a:p>
            <a:pPr algn="l">
              <a:lnSpc>
                <a:spcPts val="1844"/>
              </a:lnSpc>
            </a:pPr>
            <a:r>
              <a:rPr lang="en-US" sz="1317">
                <a:solidFill>
                  <a:srgbClr val="000000"/>
                </a:solidFill>
                <a:latin typeface="Times New Roman"/>
                <a:ea typeface="Times New Roman"/>
                <a:cs typeface="Times New Roman"/>
                <a:sym typeface="Times New Roman"/>
              </a:rPr>
              <a:t>    checkpoint = torch.load(model_path)</a:t>
            </a:r>
          </a:p>
          <a:p>
            <a:pPr algn="l">
              <a:lnSpc>
                <a:spcPts val="1844"/>
              </a:lnSpc>
            </a:pPr>
            <a:endParaRPr lang="en-US" sz="1317">
              <a:solidFill>
                <a:srgbClr val="000000"/>
              </a:solidFill>
              <a:latin typeface="Times New Roman"/>
              <a:ea typeface="Times New Roman"/>
              <a:cs typeface="Times New Roman"/>
              <a:sym typeface="Times New Roman"/>
            </a:endParaRPr>
          </a:p>
          <a:p>
            <a:pPr algn="l">
              <a:lnSpc>
                <a:spcPts val="1844"/>
              </a:lnSpc>
            </a:pPr>
            <a:r>
              <a:rPr lang="en-US" sz="1317">
                <a:solidFill>
                  <a:srgbClr val="000000"/>
                </a:solidFill>
                <a:latin typeface="Times New Roman"/>
                <a:ea typeface="Times New Roman"/>
                <a:cs typeface="Times New Roman"/>
                <a:sym typeface="Times New Roman"/>
              </a:rPr>
              <a:t>    model.load_state_dict(checkpoint["model_state"])</a:t>
            </a:r>
          </a:p>
          <a:p>
            <a:pPr algn="l">
              <a:lnSpc>
                <a:spcPts val="1844"/>
              </a:lnSpc>
            </a:pPr>
            <a:r>
              <a:rPr lang="en-US" sz="1317">
                <a:solidFill>
                  <a:srgbClr val="000000"/>
                </a:solidFill>
                <a:latin typeface="Times New Roman"/>
                <a:ea typeface="Times New Roman"/>
                <a:cs typeface="Times New Roman"/>
                <a:sym typeface="Times New Roman"/>
              </a:rPr>
              <a:t>    print(f"Model loaded. Val Dice: {checkpoint['val_dice']:.4f}")</a:t>
            </a:r>
          </a:p>
          <a:p>
            <a:pPr algn="l">
              <a:lnSpc>
                <a:spcPts val="1844"/>
              </a:lnSpc>
            </a:pPr>
            <a:endParaRPr lang="en-US" sz="1317">
              <a:solidFill>
                <a:srgbClr val="000000"/>
              </a:solidFill>
              <a:latin typeface="Times New Roman"/>
              <a:ea typeface="Times New Roman"/>
              <a:cs typeface="Times New Roman"/>
              <a:sym typeface="Times New Roman"/>
            </a:endParaRPr>
          </a:p>
          <a:p>
            <a:pPr algn="l">
              <a:lnSpc>
                <a:spcPts val="1844"/>
              </a:lnSpc>
            </a:pPr>
            <a:r>
              <a:rPr lang="en-US" sz="1317">
                <a:solidFill>
                  <a:srgbClr val="000000"/>
                </a:solidFill>
                <a:latin typeface="Times New Roman"/>
                <a:ea typeface="Times New Roman"/>
                <a:cs typeface="Times New Roman"/>
                <a:sym typeface="Times New Roman"/>
              </a:rPr>
              <a:t>    return model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69449" y="184962"/>
            <a:ext cx="5560219" cy="6084570"/>
          </a:xfrm>
          <a:prstGeom prst="rect">
            <a:avLst/>
          </a:prstGeom>
        </p:spPr>
        <p:txBody>
          <a:bodyPr lIns="0" tIns="0" rIns="0" bIns="0" rtlCol="0" anchor="t">
            <a:spAutoFit/>
          </a:bodyPr>
          <a:lstStyle/>
          <a:p>
            <a:pPr algn="l">
              <a:lnSpc>
                <a:spcPts val="1679"/>
              </a:lnSpc>
            </a:pPr>
            <a:r>
              <a:rPr lang="en-US" sz="1200">
                <a:solidFill>
                  <a:srgbClr val="000000"/>
                </a:solidFill>
                <a:latin typeface="Times New Roman"/>
                <a:ea typeface="Times New Roman"/>
                <a:cs typeface="Times New Roman"/>
                <a:sym typeface="Times New Roman"/>
              </a:rPr>
              <a:t>def train_model():</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device = config.DEVICE</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model = UNet3D(in_channels=1, out_channels=3).to(device)</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optimizer = torch.optim.Adam(model.parameters(), lr=config.LEARNING_RATE)</a:t>
            </a:r>
          </a:p>
          <a:p>
            <a:pPr algn="l">
              <a:lnSpc>
                <a:spcPts val="1679"/>
              </a:lnSpc>
            </a:pPr>
            <a:r>
              <a:rPr lang="en-US" sz="1200">
                <a:solidFill>
                  <a:srgbClr val="000000"/>
                </a:solidFill>
                <a:latin typeface="Times New Roman"/>
                <a:ea typeface="Times New Roman"/>
                <a:cs typeface="Times New Roman"/>
                <a:sym typeface="Times New Roman"/>
              </a:rPr>
              <a:t>    criterion = DiceLoss()</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    return model, {}</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print("Starting training process...")</a:t>
            </a:r>
          </a:p>
          <a:p>
            <a:pPr algn="l">
              <a:lnSpc>
                <a:spcPts val="1679"/>
              </a:lnSpc>
            </a:pPr>
            <a:r>
              <a:rPr lang="en-US" sz="1200">
                <a:solidFill>
                  <a:srgbClr val="000000"/>
                </a:solidFill>
                <a:latin typeface="Times New Roman"/>
                <a:ea typeface="Times New Roman"/>
                <a:cs typeface="Times New Roman"/>
                <a:sym typeface="Times New Roman"/>
              </a:rPr>
              <a:t>print("This will take time")</a:t>
            </a:r>
          </a:p>
          <a:p>
            <a:pPr algn="l">
              <a:lnSpc>
                <a:spcPts val="1679"/>
              </a:lnSpc>
            </a:pPr>
            <a:r>
              <a:rPr lang="en-US" sz="1200">
                <a:solidFill>
                  <a:srgbClr val="000000"/>
                </a:solidFill>
                <a:latin typeface="Times New Roman"/>
                <a:ea typeface="Times New Roman"/>
                <a:cs typeface="Times New Roman"/>
                <a:sym typeface="Times New Roman"/>
              </a:rPr>
              <a:t>print("You can now use the model in your backend application.")</a:t>
            </a:r>
          </a:p>
          <a:p>
            <a:pPr algn="l">
              <a:lnSpc>
                <a:spcPts val="1679"/>
              </a:lnSpc>
            </a:pPr>
            <a:r>
              <a:rPr lang="en-US" sz="1200">
                <a:solidFill>
                  <a:srgbClr val="000000"/>
                </a:solidFill>
                <a:latin typeface="Times New Roman"/>
                <a:ea typeface="Times New Roman"/>
                <a:cs typeface="Times New Roman"/>
                <a:sym typeface="Times New Roman"/>
              </a:rPr>
              <a:t>import torch</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print(f"PyTorch version: {torch.__version__}")</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if torch.cuda.is_available():</a:t>
            </a:r>
          </a:p>
          <a:p>
            <a:pPr algn="l">
              <a:lnSpc>
                <a:spcPts val="1679"/>
              </a:lnSpc>
            </a:pPr>
            <a:r>
              <a:rPr lang="en-US" sz="1200">
                <a:solidFill>
                  <a:srgbClr val="000000"/>
                </a:solidFill>
                <a:latin typeface="Times New Roman"/>
                <a:ea typeface="Times New Roman"/>
                <a:cs typeface="Times New Roman"/>
                <a:sym typeface="Times New Roman"/>
              </a:rPr>
              <a:t>    print("Using GPU")</a:t>
            </a:r>
          </a:p>
          <a:p>
            <a:pPr algn="l">
              <a:lnSpc>
                <a:spcPts val="1679"/>
              </a:lnSpc>
            </a:pPr>
            <a:r>
              <a:rPr lang="en-US" sz="1200">
                <a:solidFill>
                  <a:srgbClr val="000000"/>
                </a:solidFill>
                <a:latin typeface="Times New Roman"/>
                <a:ea typeface="Times New Roman"/>
                <a:cs typeface="Times New Roman"/>
                <a:sym typeface="Times New Roman"/>
              </a:rPr>
              <a:t>else:</a:t>
            </a:r>
          </a:p>
          <a:p>
            <a:pPr algn="l">
              <a:lnSpc>
                <a:spcPts val="1679"/>
              </a:lnSpc>
            </a:pPr>
            <a:r>
              <a:rPr lang="en-US" sz="1200">
                <a:solidFill>
                  <a:srgbClr val="000000"/>
                </a:solidFill>
                <a:latin typeface="Times New Roman"/>
                <a:ea typeface="Times New Roman"/>
                <a:cs typeface="Times New Roman"/>
                <a:sym typeface="Times New Roman"/>
              </a:rPr>
              <a:t>    print("Still using CPU - check installation")</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r>
              <a:rPr lang="en-US" sz="1200">
                <a:solidFill>
                  <a:srgbClr val="000000"/>
                </a:solidFill>
                <a:latin typeface="Times New Roman"/>
                <a:ea typeface="Times New Roman"/>
                <a:cs typeface="Times New Roman"/>
                <a:sym typeface="Times New Roman"/>
              </a:rPr>
              <a:t>if torch.cuda.is_available():</a:t>
            </a:r>
          </a:p>
          <a:p>
            <a:pPr algn="l">
              <a:lnSpc>
                <a:spcPts val="1679"/>
              </a:lnSpc>
            </a:pPr>
            <a:r>
              <a:rPr lang="en-US" sz="1200">
                <a:solidFill>
                  <a:srgbClr val="000000"/>
                </a:solidFill>
                <a:latin typeface="Times New Roman"/>
                <a:ea typeface="Times New Roman"/>
                <a:cs typeface="Times New Roman"/>
                <a:sym typeface="Times New Roman"/>
              </a:rPr>
              <a:t>    print(f"VRAM Used: {torch.cuda.memory_allocated()/1e9:.2f} GB")</a:t>
            </a:r>
          </a:p>
          <a:p>
            <a:pPr algn="l">
              <a:lnSpc>
                <a:spcPts val="1679"/>
              </a:lnSpc>
            </a:pPr>
            <a:r>
              <a:rPr lang="en-US" sz="1200">
                <a:solidFill>
                  <a:srgbClr val="000000"/>
                </a:solidFill>
                <a:latin typeface="Times New Roman"/>
                <a:ea typeface="Times New Roman"/>
                <a:cs typeface="Times New Roman"/>
                <a:sym typeface="Times New Roman"/>
              </a:rPr>
              <a:t>    print(f"VRAM Total: {torch.cuda.get_device_properties(0).total_memory/1e9:.2f} GB")</a:t>
            </a: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endParaRPr lang="en-US" sz="1200">
              <a:solidFill>
                <a:srgbClr val="000000"/>
              </a:solidFill>
              <a:latin typeface="Times New Roman"/>
              <a:ea typeface="Times New Roman"/>
              <a:cs typeface="Times New Roman"/>
              <a:sym typeface="Times New Roman"/>
            </a:endParaRPr>
          </a:p>
          <a:p>
            <a:pPr algn="l">
              <a:lnSpc>
                <a:spcPts val="1679"/>
              </a:lnSpc>
            </a:pPr>
            <a:endParaRPr lang="en-US" sz="1200">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95250"/>
              <a:ext cx="11704320" cy="1720850"/>
            </a:xfrm>
            <a:prstGeom prst="rect">
              <a:avLst/>
            </a:prstGeom>
          </p:spPr>
          <p:txBody>
            <a:bodyPr lIns="0" tIns="0" rIns="0" bIns="0" rtlCol="0" anchor="ctr"/>
            <a:lstStyle/>
            <a:p>
              <a:pPr algn="ctr">
                <a:lnSpc>
                  <a:spcPts val="5631"/>
                </a:lnSpc>
              </a:pPr>
              <a:r>
                <a:rPr lang="en-US" sz="4693">
                  <a:solidFill>
                    <a:srgbClr val="FF0000"/>
                  </a:solidFill>
                  <a:latin typeface="Calibri (MS)"/>
                  <a:ea typeface="Calibri (MS)"/>
                  <a:cs typeface="Calibri (MS)"/>
                  <a:sym typeface="Calibri (MS)"/>
                </a:rPr>
                <a:t>Algorithm</a:t>
              </a:r>
            </a:p>
          </p:txBody>
        </p:sp>
      </p:grpSp>
      <p:sp>
        <p:nvSpPr>
          <p:cNvPr id="5" name="TextBox 5"/>
          <p:cNvSpPr txBox="1"/>
          <p:nvPr/>
        </p:nvSpPr>
        <p:spPr>
          <a:xfrm>
            <a:off x="579120" y="1733550"/>
            <a:ext cx="8886107" cy="5162550"/>
          </a:xfrm>
          <a:prstGeom prst="rect">
            <a:avLst/>
          </a:prstGeom>
        </p:spPr>
        <p:txBody>
          <a:bodyPr lIns="0" tIns="0" rIns="0" bIns="0" rtlCol="0" anchor="t">
            <a:spAutoFit/>
          </a:bodyPr>
          <a:lstStyle/>
          <a:p>
            <a:pPr algn="just">
              <a:lnSpc>
                <a:spcPts val="2039"/>
              </a:lnSpc>
            </a:pPr>
            <a:r>
              <a:rPr lang="en-US" sz="1699">
                <a:solidFill>
                  <a:srgbClr val="000000"/>
                </a:solidFill>
                <a:latin typeface="Times New Roman"/>
                <a:ea typeface="Times New Roman"/>
                <a:cs typeface="Times New Roman"/>
                <a:sym typeface="Times New Roman"/>
              </a:rPr>
              <a:t>The system's functionality is driven by a series of well-defined algorithms that handle everything from system startup to the final presentation of results.</a:t>
            </a:r>
          </a:p>
          <a:p>
            <a:pPr algn="just">
              <a:lnSpc>
                <a:spcPts val="2039"/>
              </a:lnSpc>
            </a:pPr>
            <a:endParaRPr lang="en-US" sz="1699">
              <a:solidFill>
                <a:srgbClr val="000000"/>
              </a:solidFill>
              <a:latin typeface="Times New Roman"/>
              <a:ea typeface="Times New Roman"/>
              <a:cs typeface="Times New Roman"/>
              <a:sym typeface="Times New Roman"/>
            </a:endParaRPr>
          </a:p>
          <a:p>
            <a:pPr algn="just">
              <a:lnSpc>
                <a:spcPts val="2039"/>
              </a:lnSpc>
            </a:pPr>
            <a:r>
              <a:rPr lang="en-US" sz="1699">
                <a:solidFill>
                  <a:srgbClr val="000000"/>
                </a:solidFill>
                <a:latin typeface="Times New Roman"/>
                <a:ea typeface="Times New Roman"/>
                <a:cs typeface="Times New Roman"/>
                <a:sym typeface="Times New Roman"/>
              </a:rPr>
              <a:t>1. System Initialization: ◦ The Python Flask server starts and initializes the application. </a:t>
            </a:r>
          </a:p>
          <a:p>
            <a:pPr algn="just">
              <a:lnSpc>
                <a:spcPts val="2039"/>
              </a:lnSpc>
            </a:pPr>
            <a:r>
              <a:rPr lang="en-US" sz="1699">
                <a:solidFill>
                  <a:srgbClr val="000000"/>
                </a:solidFill>
                <a:latin typeface="Times New Roman"/>
                <a:ea typeface="Times New Roman"/>
                <a:cs typeface="Times New Roman"/>
                <a:sym typeface="Times New Roman"/>
              </a:rPr>
              <a:t>◦ The pre-trained machine learning models (e.g., .h5 files) are loaded into memory for fast inference. </a:t>
            </a:r>
          </a:p>
          <a:p>
            <a:pPr algn="just">
              <a:lnSpc>
                <a:spcPts val="2039"/>
              </a:lnSpc>
            </a:pPr>
            <a:r>
              <a:rPr lang="en-US" sz="1699">
                <a:solidFill>
                  <a:srgbClr val="000000"/>
                </a:solidFill>
                <a:latin typeface="Times New Roman"/>
                <a:ea typeface="Times New Roman"/>
                <a:cs typeface="Times New Roman"/>
                <a:sym typeface="Times New Roman"/>
              </a:rPr>
              <a:t>◦ A connection to the database is established.</a:t>
            </a:r>
          </a:p>
          <a:p>
            <a:pPr algn="just">
              <a:lnSpc>
                <a:spcPts val="2039"/>
              </a:lnSpc>
            </a:pPr>
            <a:endParaRPr lang="en-US" sz="1699">
              <a:solidFill>
                <a:srgbClr val="000000"/>
              </a:solidFill>
              <a:latin typeface="Times New Roman"/>
              <a:ea typeface="Times New Roman"/>
              <a:cs typeface="Times New Roman"/>
              <a:sym typeface="Times New Roman"/>
            </a:endParaRPr>
          </a:p>
          <a:p>
            <a:pPr algn="just">
              <a:lnSpc>
                <a:spcPts val="2039"/>
              </a:lnSpc>
            </a:pPr>
            <a:r>
              <a:rPr lang="en-US" sz="1699">
                <a:solidFill>
                  <a:srgbClr val="000000"/>
                </a:solidFill>
                <a:latin typeface="Times New Roman"/>
                <a:ea typeface="Times New Roman"/>
                <a:cs typeface="Times New Roman"/>
                <a:sym typeface="Times New Roman"/>
              </a:rPr>
              <a:t>2. Image Submission &amp; Preprocessing: ◦ The server receives an image file from a client API request. ◦ The algorithm first validates the file type to ensure it is a supported image format.</a:t>
            </a:r>
          </a:p>
          <a:p>
            <a:pPr algn="just">
              <a:lnSpc>
                <a:spcPts val="2039"/>
              </a:lnSpc>
            </a:pPr>
            <a:r>
              <a:rPr lang="en-US" sz="1699">
                <a:solidFill>
                  <a:srgbClr val="000000"/>
                </a:solidFill>
                <a:latin typeface="Times New Roman"/>
                <a:ea typeface="Times New Roman"/>
                <a:cs typeface="Times New Roman"/>
                <a:sym typeface="Times New Roman"/>
              </a:rPr>
              <a:t> ◦ The image is then preprocessed to match the input requirements of the neural network. This involves resizing the image to a standard dimension (e.g., 224x224 pixels) and normalizing the pixel values.</a:t>
            </a:r>
          </a:p>
          <a:p>
            <a:pPr algn="just">
              <a:lnSpc>
                <a:spcPts val="2039"/>
              </a:lnSpc>
            </a:pPr>
            <a:endParaRPr lang="en-US" sz="1699">
              <a:solidFill>
                <a:srgbClr val="000000"/>
              </a:solidFill>
              <a:latin typeface="Times New Roman"/>
              <a:ea typeface="Times New Roman"/>
              <a:cs typeface="Times New Roman"/>
              <a:sym typeface="Times New Roman"/>
            </a:endParaRPr>
          </a:p>
          <a:p>
            <a:pPr algn="just">
              <a:lnSpc>
                <a:spcPts val="2039"/>
              </a:lnSpc>
            </a:pPr>
            <a:r>
              <a:rPr lang="en-US" sz="1699">
                <a:solidFill>
                  <a:srgbClr val="000000"/>
                </a:solidFill>
                <a:latin typeface="Times New Roman"/>
                <a:ea typeface="Times New Roman"/>
                <a:cs typeface="Times New Roman"/>
                <a:sym typeface="Times New Roman"/>
              </a:rPr>
              <a:t>3. Tumor Classification: </a:t>
            </a:r>
          </a:p>
          <a:p>
            <a:pPr algn="just">
              <a:lnSpc>
                <a:spcPts val="2039"/>
              </a:lnSpc>
            </a:pPr>
            <a:r>
              <a:rPr lang="en-US" sz="1699">
                <a:solidFill>
                  <a:srgbClr val="000000"/>
                </a:solidFill>
                <a:latin typeface="Times New Roman"/>
                <a:ea typeface="Times New Roman"/>
                <a:cs typeface="Times New Roman"/>
                <a:sym typeface="Times New Roman"/>
              </a:rPr>
              <a:t>◦ The preprocessed image tensor is fed as input to the trained Convolutional Neural Network (CNN). </a:t>
            </a:r>
          </a:p>
          <a:p>
            <a:pPr algn="just">
              <a:lnSpc>
                <a:spcPts val="2039"/>
              </a:lnSpc>
            </a:pPr>
            <a:endParaRPr lang="en-US" sz="1699">
              <a:solidFill>
                <a:srgbClr val="000000"/>
              </a:solidFill>
              <a:latin typeface="Times New Roman"/>
              <a:ea typeface="Times New Roman"/>
              <a:cs typeface="Times New Roman"/>
              <a:sym typeface="Times New Roman"/>
            </a:endParaRPr>
          </a:p>
          <a:p>
            <a:pPr algn="just">
              <a:lnSpc>
                <a:spcPts val="2039"/>
              </a:lnSpc>
            </a:pPr>
            <a:r>
              <a:rPr lang="en-US" sz="1699">
                <a:solidFill>
                  <a:srgbClr val="000000"/>
                </a:solidFill>
                <a:latin typeface="Times New Roman"/>
                <a:ea typeface="Times New Roman"/>
                <a:cs typeface="Times New Roman"/>
                <a:sym typeface="Times New Roman"/>
              </a:rPr>
              <a:t>◦ The algorithm executes a forward pass: the tensor flows through a series of convolutional layers that apply filters to extract hierarchical features (e.g., edges, textures, shapes), followed by pooling layers that reduce dimensionality and create spatial invariance.</a:t>
            </a:r>
          </a:p>
          <a:p>
            <a:pPr algn="just">
              <a:lnSpc>
                <a:spcPts val="2039"/>
              </a:lnSpc>
            </a:pPr>
            <a:endParaRPr lang="en-US" sz="1699">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40300" y="171391"/>
            <a:ext cx="8781780" cy="5319395"/>
          </a:xfrm>
          <a:prstGeom prst="rect">
            <a:avLst/>
          </a:prstGeom>
        </p:spPr>
        <p:txBody>
          <a:bodyPr lIns="0" tIns="0" rIns="0" bIns="0" rtlCol="0" anchor="t">
            <a:spAutoFit/>
          </a:bodyPr>
          <a:lstStyle/>
          <a:p>
            <a:pPr algn="just">
              <a:lnSpc>
                <a:spcPts val="2380"/>
              </a:lnSpc>
            </a:pPr>
            <a:endParaRPr/>
          </a:p>
          <a:p>
            <a:pPr algn="just">
              <a:lnSpc>
                <a:spcPts val="2380"/>
              </a:lnSpc>
            </a:pPr>
            <a:r>
              <a:rPr lang="en-US" sz="1700">
                <a:solidFill>
                  <a:srgbClr val="000000"/>
                </a:solidFill>
                <a:latin typeface="Times New Roman"/>
                <a:ea typeface="Times New Roman"/>
                <a:cs typeface="Times New Roman"/>
                <a:sym typeface="Times New Roman"/>
              </a:rPr>
              <a:t>◦ The process culminates in a set of fully connected layers that interpret these features, and a finals oftmax activation function that outputs a probability distribution across the possible tumor classes (e.g.,{Malignant: 0.92, Benign: 0.08}).</a:t>
            </a:r>
          </a:p>
          <a:p>
            <a:pPr algn="just">
              <a:lnSpc>
                <a:spcPts val="2380"/>
              </a:lnSpc>
            </a:pPr>
            <a:endParaRPr lang="en-US" sz="1700">
              <a:solidFill>
                <a:srgbClr val="000000"/>
              </a:solidFill>
              <a:latin typeface="Times New Roman"/>
              <a:ea typeface="Times New Roman"/>
              <a:cs typeface="Times New Roman"/>
              <a:sym typeface="Times New Roman"/>
            </a:endParaRPr>
          </a:p>
          <a:p>
            <a:pPr algn="just">
              <a:lnSpc>
                <a:spcPts val="2380"/>
              </a:lnSpc>
            </a:pPr>
            <a:r>
              <a:rPr lang="en-US" sz="1700">
                <a:solidFill>
                  <a:srgbClr val="000000"/>
                </a:solidFill>
                <a:latin typeface="Times New Roman"/>
                <a:ea typeface="Times New Roman"/>
                <a:cs typeface="Times New Roman"/>
                <a:sym typeface="Times New Roman"/>
              </a:rPr>
              <a:t>4. Growth Prediction:</a:t>
            </a:r>
          </a:p>
          <a:p>
            <a:pPr algn="just">
              <a:lnSpc>
                <a:spcPts val="2380"/>
              </a:lnSpc>
            </a:pPr>
            <a:r>
              <a:rPr lang="en-US" sz="1700">
                <a:solidFill>
                  <a:srgbClr val="000000"/>
                </a:solidFill>
                <a:latin typeface="Times New Roman"/>
                <a:ea typeface="Times New Roman"/>
                <a:cs typeface="Times New Roman"/>
                <a:sym typeface="Times New Roman"/>
              </a:rPr>
              <a:t> ◦ The algorithm extracts a set of tabular features from the input image. These features include quantitative metrics like tumor area, perimeter, and texture characteristics, which are derived using an image processing library like OpenCV.</a:t>
            </a:r>
          </a:p>
          <a:p>
            <a:pPr algn="just">
              <a:lnSpc>
                <a:spcPts val="2380"/>
              </a:lnSpc>
            </a:pPr>
            <a:r>
              <a:rPr lang="en-US" sz="1700">
                <a:solidFill>
                  <a:srgbClr val="000000"/>
                </a:solidFill>
                <a:latin typeface="Times New Roman"/>
                <a:ea typeface="Times New Roman"/>
                <a:cs typeface="Times New Roman"/>
                <a:sym typeface="Times New Roman"/>
              </a:rPr>
              <a:t> ◦ These features are then passed as input to a pre-trained Gradient Boosting Regressor.</a:t>
            </a:r>
          </a:p>
          <a:p>
            <a:pPr algn="just">
              <a:lnSpc>
                <a:spcPts val="2380"/>
              </a:lnSpc>
            </a:pPr>
            <a:r>
              <a:rPr lang="en-US" sz="1700">
                <a:solidFill>
                  <a:srgbClr val="000000"/>
                </a:solidFill>
                <a:latin typeface="Times New Roman"/>
                <a:ea typeface="Times New Roman"/>
                <a:cs typeface="Times New Roman"/>
                <a:sym typeface="Times New Roman"/>
              </a:rPr>
              <a:t> This model outputs a continuous value representing the predicted percentage increase in tumor diameter over a set time frame (e.g., 6 months).</a:t>
            </a:r>
          </a:p>
          <a:p>
            <a:pPr algn="just">
              <a:lnSpc>
                <a:spcPts val="2380"/>
              </a:lnSpc>
            </a:pPr>
            <a:endParaRPr lang="en-US" sz="1700">
              <a:solidFill>
                <a:srgbClr val="000000"/>
              </a:solidFill>
              <a:latin typeface="Times New Roman"/>
              <a:ea typeface="Times New Roman"/>
              <a:cs typeface="Times New Roman"/>
              <a:sym typeface="Times New Roman"/>
            </a:endParaRPr>
          </a:p>
          <a:p>
            <a:pPr algn="just">
              <a:lnSpc>
                <a:spcPts val="2380"/>
              </a:lnSpc>
            </a:pPr>
            <a:r>
              <a:rPr lang="en-US" sz="1700">
                <a:solidFill>
                  <a:srgbClr val="000000"/>
                </a:solidFill>
                <a:latin typeface="Times New Roman"/>
                <a:ea typeface="Times New Roman"/>
                <a:cs typeface="Times New Roman"/>
                <a:sym typeface="Times New Roman"/>
              </a:rPr>
              <a:t>5. Results Presentation: ◦ The classification probabilities and the growth prediction value are consolidated. </a:t>
            </a:r>
          </a:p>
          <a:p>
            <a:pPr algn="just">
              <a:lnSpc>
                <a:spcPts val="2380"/>
              </a:lnSpc>
            </a:pPr>
            <a:r>
              <a:rPr lang="en-US" sz="1700">
                <a:solidFill>
                  <a:srgbClr val="000000"/>
                </a:solidFill>
                <a:latin typeface="Times New Roman"/>
                <a:ea typeface="Times New Roman"/>
                <a:cs typeface="Times New Roman"/>
                <a:sym typeface="Times New Roman"/>
              </a:rPr>
              <a:t>◦ This data is structured into a clean JSON object (e.g., {"tumor_type": "Malignant", "confidence":92.0, "growth_projection": "5-8%"}).</a:t>
            </a:r>
          </a:p>
          <a:p>
            <a:pPr algn="just">
              <a:lnSpc>
                <a:spcPts val="2380"/>
              </a:lnSpc>
            </a:pPr>
            <a:r>
              <a:rPr lang="en-US" sz="1700">
                <a:solidFill>
                  <a:srgbClr val="000000"/>
                </a:solidFill>
                <a:latin typeface="Times New Roman"/>
                <a:ea typeface="Times New Roman"/>
                <a:cs typeface="Times New Roman"/>
                <a:sym typeface="Times New Roman"/>
              </a:rPr>
              <a:t> ◦ The JSON object is sent back to the frontend as the API response.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95250"/>
              <a:ext cx="11704320" cy="1720850"/>
            </a:xfrm>
            <a:prstGeom prst="rect">
              <a:avLst/>
            </a:prstGeom>
          </p:spPr>
          <p:txBody>
            <a:bodyPr lIns="0" tIns="0" rIns="0" bIns="0" rtlCol="0" anchor="ctr"/>
            <a:lstStyle/>
            <a:p>
              <a:pPr algn="ctr">
                <a:lnSpc>
                  <a:spcPts val="5631"/>
                </a:lnSpc>
              </a:pPr>
              <a:r>
                <a:rPr lang="en-US" sz="4693">
                  <a:solidFill>
                    <a:srgbClr val="FF0000"/>
                  </a:solidFill>
                  <a:latin typeface="Calibri (MS)"/>
                  <a:ea typeface="Calibri (MS)"/>
                  <a:cs typeface="Calibri (MS)"/>
                  <a:sym typeface="Calibri (MS)"/>
                </a:rPr>
                <a:t>Result Snapshot</a:t>
              </a:r>
            </a:p>
          </p:txBody>
        </p:sp>
      </p:grpSp>
      <p:sp>
        <p:nvSpPr>
          <p:cNvPr id="5" name="Freeform 5"/>
          <p:cNvSpPr/>
          <p:nvPr/>
        </p:nvSpPr>
        <p:spPr>
          <a:xfrm>
            <a:off x="581530" y="1590501"/>
            <a:ext cx="8440550" cy="4062015"/>
          </a:xfrm>
          <a:custGeom>
            <a:avLst/>
            <a:gdLst/>
            <a:ahLst/>
            <a:cxnLst/>
            <a:rect l="l" t="t" r="r" b="b"/>
            <a:pathLst>
              <a:path w="8440550" h="4062015">
                <a:moveTo>
                  <a:pt x="0" y="0"/>
                </a:moveTo>
                <a:lnTo>
                  <a:pt x="8440550" y="0"/>
                </a:lnTo>
                <a:lnTo>
                  <a:pt x="8440550" y="4062015"/>
                </a:lnTo>
                <a:lnTo>
                  <a:pt x="0" y="4062015"/>
                </a:lnTo>
                <a:lnTo>
                  <a:pt x="0" y="0"/>
                </a:lnTo>
                <a:close/>
              </a:path>
            </a:pathLst>
          </a:custGeom>
          <a:blipFill>
            <a:blip r:embed="rId2"/>
            <a:stretch>
              <a:fillRect/>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31520" y="1144404"/>
            <a:ext cx="8290560" cy="4210050"/>
          </a:xfrm>
          <a:custGeom>
            <a:avLst/>
            <a:gdLst/>
            <a:ahLst/>
            <a:cxnLst/>
            <a:rect l="l" t="t" r="r" b="b"/>
            <a:pathLst>
              <a:path w="8290560" h="4210050">
                <a:moveTo>
                  <a:pt x="0" y="0"/>
                </a:moveTo>
                <a:lnTo>
                  <a:pt x="8290560" y="0"/>
                </a:lnTo>
                <a:lnTo>
                  <a:pt x="8290560" y="4210050"/>
                </a:lnTo>
                <a:lnTo>
                  <a:pt x="0" y="4210050"/>
                </a:lnTo>
                <a:lnTo>
                  <a:pt x="0" y="0"/>
                </a:lnTo>
                <a:close/>
              </a:path>
            </a:pathLst>
          </a:custGeom>
          <a:blipFill>
            <a:blip r:embed="rId2"/>
            <a:stretch>
              <a:fillRect/>
            </a:stretch>
          </a:blipFill>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95250"/>
              <a:ext cx="11704320" cy="1720850"/>
            </a:xfrm>
            <a:prstGeom prst="rect">
              <a:avLst/>
            </a:prstGeom>
          </p:spPr>
          <p:txBody>
            <a:bodyPr lIns="0" tIns="0" rIns="0" bIns="0" rtlCol="0" anchor="ctr"/>
            <a:lstStyle/>
            <a:p>
              <a:pPr algn="ctr">
                <a:lnSpc>
                  <a:spcPts val="5631"/>
                </a:lnSpc>
              </a:pPr>
              <a:r>
                <a:rPr lang="en-US" sz="4693">
                  <a:solidFill>
                    <a:srgbClr val="FF0000"/>
                  </a:solidFill>
                  <a:latin typeface="Calibri (MS)"/>
                  <a:ea typeface="Calibri (MS)"/>
                  <a:cs typeface="Calibri (MS)"/>
                  <a:sym typeface="Calibri (MS)"/>
                </a:rPr>
                <a:t>Result Analysis</a:t>
              </a:r>
            </a:p>
          </p:txBody>
        </p:sp>
      </p:grpSp>
      <p:sp>
        <p:nvSpPr>
          <p:cNvPr id="5" name="TextBox 5"/>
          <p:cNvSpPr txBox="1"/>
          <p:nvPr/>
        </p:nvSpPr>
        <p:spPr>
          <a:xfrm>
            <a:off x="579120" y="1714500"/>
            <a:ext cx="8595360" cy="4152900"/>
          </a:xfrm>
          <a:prstGeom prst="rect">
            <a:avLst/>
          </a:prstGeom>
        </p:spPr>
        <p:txBody>
          <a:bodyPr lIns="0" tIns="0" rIns="0" bIns="0" rtlCol="0" anchor="t">
            <a:spAutoFit/>
          </a:bodyPr>
          <a:lstStyle/>
          <a:p>
            <a:pPr algn="l">
              <a:lnSpc>
                <a:spcPts val="2039"/>
              </a:lnSpc>
            </a:pPr>
            <a:endParaRPr/>
          </a:p>
          <a:p>
            <a:pPr algn="l">
              <a:lnSpc>
                <a:spcPts val="2039"/>
              </a:lnSpc>
            </a:pPr>
            <a:r>
              <a:rPr lang="en-US" sz="1699">
                <a:solidFill>
                  <a:srgbClr val="000000"/>
                </a:solidFill>
                <a:latin typeface="Calibri (MS)"/>
                <a:ea typeface="Calibri (MS)"/>
                <a:cs typeface="Calibri (MS)"/>
                <a:sym typeface="Calibri (MS)"/>
              </a:rPr>
              <a:t>Kidney Tumor Detection &amp; Segmentation – Results Summary</a:t>
            </a:r>
          </a:p>
          <a:p>
            <a:pPr algn="l">
              <a:lnSpc>
                <a:spcPts val="2039"/>
              </a:lnSpc>
            </a:pPr>
            <a:endParaRPr lang="en-US" sz="1699">
              <a:solidFill>
                <a:srgbClr val="000000"/>
              </a:solidFill>
              <a:latin typeface="Calibri (MS)"/>
              <a:ea typeface="Calibri (MS)"/>
              <a:cs typeface="Calibri (MS)"/>
              <a:sym typeface="Calibri (MS)"/>
            </a:endParaRPr>
          </a:p>
          <a:p>
            <a:pPr algn="l">
              <a:lnSpc>
                <a:spcPts val="2039"/>
              </a:lnSpc>
            </a:pPr>
            <a:r>
              <a:rPr lang="en-US" sz="1699">
                <a:solidFill>
                  <a:srgbClr val="000000"/>
                </a:solidFill>
                <a:latin typeface="Calibri (MS)"/>
                <a:ea typeface="Calibri (MS)"/>
                <a:cs typeface="Calibri (MS)"/>
                <a:sym typeface="Calibri (MS)"/>
              </a:rPr>
              <a:t>Mean Dice Score: 0.899Kidney: 0.891</a:t>
            </a:r>
          </a:p>
          <a:p>
            <a:pPr algn="l">
              <a:lnSpc>
                <a:spcPts val="2039"/>
              </a:lnSpc>
            </a:pPr>
            <a:r>
              <a:rPr lang="en-US" sz="1699">
                <a:solidFill>
                  <a:srgbClr val="000000"/>
                </a:solidFill>
                <a:latin typeface="Calibri (MS)"/>
                <a:ea typeface="Calibri (MS)"/>
                <a:cs typeface="Calibri (MS)"/>
                <a:sym typeface="Calibri (MS)"/>
              </a:rPr>
              <a:t>Tumor: 0.812</a:t>
            </a:r>
          </a:p>
          <a:p>
            <a:pPr algn="l">
              <a:lnSpc>
                <a:spcPts val="2039"/>
              </a:lnSpc>
            </a:pPr>
            <a:r>
              <a:rPr lang="en-US" sz="1699">
                <a:solidFill>
                  <a:srgbClr val="000000"/>
                </a:solidFill>
                <a:latin typeface="Calibri (MS)"/>
                <a:ea typeface="Calibri (MS)"/>
                <a:cs typeface="Calibri (MS)"/>
                <a:sym typeface="Calibri (MS)"/>
              </a:rPr>
              <a:t>Segmentation Quality:Accurate kidney boundary extraction</a:t>
            </a:r>
          </a:p>
          <a:p>
            <a:pPr algn="l">
              <a:lnSpc>
                <a:spcPts val="2039"/>
              </a:lnSpc>
            </a:pPr>
            <a:r>
              <a:rPr lang="en-US" sz="1699">
                <a:solidFill>
                  <a:srgbClr val="000000"/>
                </a:solidFill>
                <a:latin typeface="Calibri (MS)"/>
                <a:ea typeface="Calibri (MS)"/>
                <a:cs typeface="Calibri (MS)"/>
                <a:sym typeface="Calibri (MS)"/>
              </a:rPr>
              <a:t>Strong tumor localization even in low-contrast regions</a:t>
            </a:r>
          </a:p>
          <a:p>
            <a:pPr algn="l">
              <a:lnSpc>
                <a:spcPts val="2039"/>
              </a:lnSpc>
            </a:pPr>
            <a:r>
              <a:rPr lang="en-US" sz="1699">
                <a:solidFill>
                  <a:srgbClr val="000000"/>
                </a:solidFill>
                <a:latin typeface="Calibri (MS)"/>
                <a:ea typeface="Calibri (MS)"/>
                <a:cs typeface="Calibri (MS)"/>
                <a:sym typeface="Calibri (MS)"/>
              </a:rPr>
              <a:t>Classification Accuracy:Tumor subtype accuracy: 89.2%</a:t>
            </a:r>
          </a:p>
          <a:p>
            <a:pPr algn="l">
              <a:lnSpc>
                <a:spcPts val="2039"/>
              </a:lnSpc>
            </a:pPr>
            <a:r>
              <a:rPr lang="en-US" sz="1699">
                <a:solidFill>
                  <a:srgbClr val="000000"/>
                </a:solidFill>
                <a:latin typeface="Calibri (MS)"/>
                <a:ea typeface="Calibri (MS)"/>
                <a:cs typeface="Calibri (MS)"/>
                <a:sym typeface="Calibri (MS)"/>
              </a:rPr>
              <a:t>Macro F1 score: 0.881</a:t>
            </a:r>
          </a:p>
          <a:p>
            <a:pPr algn="l">
              <a:lnSpc>
                <a:spcPts val="2039"/>
              </a:lnSpc>
            </a:pPr>
            <a:r>
              <a:rPr lang="en-US" sz="1699">
                <a:solidFill>
                  <a:srgbClr val="000000"/>
                </a:solidFill>
                <a:latin typeface="Calibri (MS)"/>
                <a:ea typeface="Calibri (MS)"/>
                <a:cs typeface="Calibri (MS)"/>
                <a:sym typeface="Calibri (MS)"/>
              </a:rPr>
              <a:t>Growth Prediction:R² = 0.847, MAE = 0.23 cm/year</a:t>
            </a:r>
          </a:p>
          <a:p>
            <a:pPr algn="l">
              <a:lnSpc>
                <a:spcPts val="2039"/>
              </a:lnSpc>
            </a:pPr>
            <a:r>
              <a:rPr lang="en-US" sz="1699">
                <a:solidFill>
                  <a:srgbClr val="000000"/>
                </a:solidFill>
                <a:latin typeface="Calibri (MS)"/>
                <a:ea typeface="Calibri (MS)"/>
                <a:cs typeface="Calibri (MS)"/>
                <a:sym typeface="Calibri (MS)"/>
              </a:rPr>
              <a:t>Helps estimate doubling time and aggressiveness</a:t>
            </a:r>
          </a:p>
          <a:p>
            <a:pPr algn="l">
              <a:lnSpc>
                <a:spcPts val="2039"/>
              </a:lnSpc>
            </a:pPr>
            <a:endParaRPr lang="en-US" sz="1699">
              <a:solidFill>
                <a:srgbClr val="000000"/>
              </a:solidFill>
              <a:latin typeface="Calibri (MS)"/>
              <a:ea typeface="Calibri (MS)"/>
              <a:cs typeface="Calibri (MS)"/>
              <a:sym typeface="Calibri (MS)"/>
            </a:endParaRPr>
          </a:p>
          <a:p>
            <a:pPr algn="l">
              <a:lnSpc>
                <a:spcPts val="2039"/>
              </a:lnSpc>
            </a:pPr>
            <a:r>
              <a:rPr lang="en-US" sz="1699">
                <a:solidFill>
                  <a:srgbClr val="000000"/>
                </a:solidFill>
                <a:latin typeface="Calibri (MS)"/>
                <a:ea typeface="Calibri (MS)"/>
                <a:cs typeface="Calibri (MS)"/>
                <a:sym typeface="Calibri (MS)"/>
              </a:rPr>
              <a:t>Conclusion: The model demonstrates clinically reliable segmentation and tumor characterization with competitive accuracy.</a:t>
            </a:r>
          </a:p>
          <a:p>
            <a:pPr algn="l">
              <a:lnSpc>
                <a:spcPts val="2039"/>
              </a:lnSpc>
            </a:pPr>
            <a:endParaRPr lang="en-US" sz="1699">
              <a:solidFill>
                <a:srgbClr val="000000"/>
              </a:solidFill>
              <a:latin typeface="Calibri (MS)"/>
              <a:ea typeface="Calibri (MS)"/>
              <a:cs typeface="Calibri (MS)"/>
              <a:sym typeface="Calibri (MS)"/>
            </a:endParaRPr>
          </a:p>
          <a:p>
            <a:pPr algn="l">
              <a:lnSpc>
                <a:spcPts val="2039"/>
              </a:lnSpc>
            </a:pPr>
            <a:endParaRPr lang="en-US" sz="1699">
              <a:solidFill>
                <a:srgbClr val="000000"/>
              </a:solidFill>
              <a:latin typeface="Calibri (MS)"/>
              <a:ea typeface="Calibri (MS)"/>
              <a:cs typeface="Calibri (MS)"/>
              <a:sym typeface="Calibri (M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95250"/>
              <a:ext cx="11704320" cy="1720850"/>
            </a:xfrm>
            <a:prstGeom prst="rect">
              <a:avLst/>
            </a:prstGeom>
          </p:spPr>
          <p:txBody>
            <a:bodyPr lIns="0" tIns="0" rIns="0" bIns="0" rtlCol="0" anchor="ctr"/>
            <a:lstStyle/>
            <a:p>
              <a:pPr algn="ctr">
                <a:lnSpc>
                  <a:spcPts val="5631"/>
                </a:lnSpc>
              </a:pPr>
              <a:r>
                <a:rPr lang="en-US" sz="4693">
                  <a:solidFill>
                    <a:srgbClr val="FF0000"/>
                  </a:solidFill>
                  <a:latin typeface="Calibri (MS)"/>
                  <a:ea typeface="Calibri (MS)"/>
                  <a:cs typeface="Calibri (MS)"/>
                  <a:sym typeface="Calibri (MS)"/>
                </a:rPr>
                <a:t>Result Analysis</a:t>
              </a:r>
            </a:p>
          </p:txBody>
        </p:sp>
      </p:grpSp>
      <p:sp>
        <p:nvSpPr>
          <p:cNvPr id="5" name="TextBox 5"/>
          <p:cNvSpPr txBox="1"/>
          <p:nvPr/>
        </p:nvSpPr>
        <p:spPr>
          <a:xfrm>
            <a:off x="579120" y="1714500"/>
            <a:ext cx="8595360" cy="3638550"/>
          </a:xfrm>
          <a:prstGeom prst="rect">
            <a:avLst/>
          </a:prstGeom>
        </p:spPr>
        <p:txBody>
          <a:bodyPr lIns="0" tIns="0" rIns="0" bIns="0" rtlCol="0" anchor="t">
            <a:spAutoFit/>
          </a:bodyPr>
          <a:lstStyle/>
          <a:p>
            <a:pPr algn="just">
              <a:lnSpc>
                <a:spcPts val="2039"/>
              </a:lnSpc>
            </a:pPr>
            <a:r>
              <a:rPr lang="en-US" sz="1699" dirty="0">
                <a:solidFill>
                  <a:srgbClr val="000000"/>
                </a:solidFill>
                <a:latin typeface="Calibri (MS)"/>
                <a:ea typeface="Calibri (MS)"/>
                <a:cs typeface="Calibri (MS)"/>
                <a:sym typeface="Calibri (MS)"/>
              </a:rPr>
              <a:t>Key Insights</a:t>
            </a:r>
          </a:p>
          <a:p>
            <a:pPr algn="just">
              <a:lnSpc>
                <a:spcPts val="2039"/>
              </a:lnSpc>
            </a:pPr>
            <a:r>
              <a:rPr lang="en-US" sz="1699" dirty="0">
                <a:solidFill>
                  <a:srgbClr val="000000"/>
                </a:solidFill>
                <a:latin typeface="Calibri (MS)"/>
                <a:ea typeface="Calibri (MS)"/>
                <a:cs typeface="Calibri (MS)"/>
                <a:sym typeface="Calibri (MS)"/>
              </a:rPr>
              <a:t>Stable </a:t>
            </a:r>
            <a:r>
              <a:rPr lang="en-US" sz="1699" dirty="0" err="1">
                <a:solidFill>
                  <a:srgbClr val="000000"/>
                </a:solidFill>
                <a:latin typeface="Calibri (MS)"/>
                <a:ea typeface="Calibri (MS)"/>
                <a:cs typeface="Calibri (MS)"/>
                <a:sym typeface="Calibri (MS)"/>
              </a:rPr>
              <a:t>Training:Converged</a:t>
            </a:r>
            <a:r>
              <a:rPr lang="en-US" sz="1699" dirty="0">
                <a:solidFill>
                  <a:srgbClr val="000000"/>
                </a:solidFill>
                <a:latin typeface="Calibri (MS)"/>
                <a:ea typeface="Calibri (MS)"/>
                <a:cs typeface="Calibri (MS)"/>
                <a:sym typeface="Calibri (MS)"/>
              </a:rPr>
              <a:t> 50 epochs</a:t>
            </a:r>
          </a:p>
          <a:p>
            <a:pPr algn="just">
              <a:lnSpc>
                <a:spcPts val="2039"/>
              </a:lnSpc>
            </a:pPr>
            <a:r>
              <a:rPr lang="en-US" sz="1699" dirty="0">
                <a:solidFill>
                  <a:srgbClr val="000000"/>
                </a:solidFill>
                <a:latin typeface="Calibri (MS)"/>
                <a:ea typeface="Calibri (MS)"/>
                <a:cs typeface="Calibri (MS)"/>
                <a:sym typeface="Calibri (MS)"/>
              </a:rPr>
              <a:t>Smooth loss reduction, no overfitting spikes</a:t>
            </a:r>
          </a:p>
          <a:p>
            <a:pPr algn="just">
              <a:lnSpc>
                <a:spcPts val="2039"/>
              </a:lnSpc>
            </a:pPr>
            <a:r>
              <a:rPr lang="en-US" sz="1699" dirty="0">
                <a:solidFill>
                  <a:srgbClr val="000000"/>
                </a:solidFill>
                <a:latin typeface="Calibri (MS)"/>
                <a:ea typeface="Calibri (MS)"/>
                <a:cs typeface="Calibri (MS)"/>
                <a:sym typeface="Calibri (MS)"/>
              </a:rPr>
              <a:t>Strong </a:t>
            </a:r>
            <a:r>
              <a:rPr lang="en-US" sz="1699" dirty="0" err="1">
                <a:solidFill>
                  <a:srgbClr val="000000"/>
                </a:solidFill>
                <a:latin typeface="Calibri (MS)"/>
                <a:ea typeface="Calibri (MS)"/>
                <a:cs typeface="Calibri (MS)"/>
                <a:sym typeface="Calibri (MS)"/>
              </a:rPr>
              <a:t>Generalization:Validation</a:t>
            </a:r>
            <a:r>
              <a:rPr lang="en-US" sz="1699" dirty="0">
                <a:solidFill>
                  <a:srgbClr val="000000"/>
                </a:solidFill>
                <a:latin typeface="Calibri (MS)"/>
                <a:ea typeface="Calibri (MS)"/>
                <a:cs typeface="Calibri (MS)"/>
                <a:sym typeface="Calibri (MS)"/>
              </a:rPr>
              <a:t> Dice close to training Dice</a:t>
            </a:r>
          </a:p>
          <a:p>
            <a:pPr algn="just">
              <a:lnSpc>
                <a:spcPts val="2039"/>
              </a:lnSpc>
            </a:pPr>
            <a:r>
              <a:rPr lang="en-US" sz="1699" dirty="0">
                <a:solidFill>
                  <a:srgbClr val="000000"/>
                </a:solidFill>
                <a:latin typeface="Calibri (MS)"/>
                <a:ea typeface="Calibri (MS)"/>
                <a:cs typeface="Calibri (MS)"/>
                <a:sym typeface="Calibri (MS)"/>
              </a:rPr>
              <a:t>Performs well even with varied tumor shapes and sizes</a:t>
            </a:r>
          </a:p>
          <a:p>
            <a:pPr algn="just">
              <a:lnSpc>
                <a:spcPts val="2039"/>
              </a:lnSpc>
            </a:pPr>
            <a:r>
              <a:rPr lang="en-US" sz="1699" dirty="0">
                <a:solidFill>
                  <a:srgbClr val="000000"/>
                </a:solidFill>
                <a:latin typeface="Calibri (MS)"/>
                <a:ea typeface="Calibri (MS)"/>
                <a:cs typeface="Calibri (MS)"/>
                <a:sym typeface="Calibri (MS)"/>
              </a:rPr>
              <a:t>Fast </a:t>
            </a:r>
            <a:r>
              <a:rPr lang="en-US" sz="1699" dirty="0" err="1">
                <a:solidFill>
                  <a:srgbClr val="000000"/>
                </a:solidFill>
                <a:latin typeface="Calibri (MS)"/>
                <a:ea typeface="Calibri (MS)"/>
                <a:cs typeface="Calibri (MS)"/>
                <a:sym typeface="Calibri (MS)"/>
              </a:rPr>
              <a:t>Inference:GPU</a:t>
            </a:r>
            <a:r>
              <a:rPr lang="en-US" sz="1699" dirty="0">
                <a:solidFill>
                  <a:srgbClr val="000000"/>
                </a:solidFill>
                <a:latin typeface="Calibri (MS)"/>
                <a:ea typeface="Calibri (MS)"/>
                <a:cs typeface="Calibri (MS)"/>
                <a:sym typeface="Calibri (MS)"/>
              </a:rPr>
              <a:t>: 1–3 seconds per scan</a:t>
            </a:r>
          </a:p>
          <a:p>
            <a:pPr algn="just">
              <a:lnSpc>
                <a:spcPts val="2039"/>
              </a:lnSpc>
            </a:pPr>
            <a:r>
              <a:rPr lang="en-US" sz="1699" dirty="0">
                <a:solidFill>
                  <a:srgbClr val="000000"/>
                </a:solidFill>
                <a:latin typeface="Calibri (MS)"/>
                <a:ea typeface="Calibri (MS)"/>
                <a:cs typeface="Calibri (MS)"/>
                <a:sym typeface="Calibri (MS)"/>
              </a:rPr>
              <a:t>Suitable for real-time clinical workflows</a:t>
            </a:r>
          </a:p>
          <a:p>
            <a:pPr algn="just">
              <a:lnSpc>
                <a:spcPts val="2039"/>
              </a:lnSpc>
            </a:pPr>
            <a:endParaRPr lang="en-US" sz="1699" dirty="0">
              <a:solidFill>
                <a:srgbClr val="000000"/>
              </a:solidFill>
              <a:latin typeface="Calibri (MS)"/>
              <a:ea typeface="Calibri (MS)"/>
              <a:cs typeface="Calibri (MS)"/>
              <a:sym typeface="Calibri (MS)"/>
            </a:endParaRPr>
          </a:p>
          <a:p>
            <a:pPr algn="just">
              <a:lnSpc>
                <a:spcPts val="2039"/>
              </a:lnSpc>
            </a:pPr>
            <a:r>
              <a:rPr lang="en-US" sz="1699" dirty="0">
                <a:solidFill>
                  <a:srgbClr val="000000"/>
                </a:solidFill>
                <a:latin typeface="Calibri (MS)"/>
                <a:ea typeface="Calibri (MS)"/>
                <a:cs typeface="Calibri (MS)"/>
                <a:sym typeface="Calibri (MS)"/>
              </a:rPr>
              <a:t>Clinical Relevance</a:t>
            </a:r>
          </a:p>
          <a:p>
            <a:pPr algn="just">
              <a:lnSpc>
                <a:spcPts val="2039"/>
              </a:lnSpc>
            </a:pPr>
            <a:r>
              <a:rPr lang="en-US" sz="1699" dirty="0">
                <a:solidFill>
                  <a:srgbClr val="000000"/>
                </a:solidFill>
                <a:latin typeface="Calibri (MS)"/>
                <a:ea typeface="Calibri (MS)"/>
                <a:cs typeface="Calibri (MS)"/>
                <a:sym typeface="Calibri (MS)"/>
              </a:rPr>
              <a:t>Supports radiologists by reducing manual segmentation time</a:t>
            </a:r>
          </a:p>
          <a:p>
            <a:pPr algn="just">
              <a:lnSpc>
                <a:spcPts val="2039"/>
              </a:lnSpc>
            </a:pPr>
            <a:r>
              <a:rPr lang="en-US" sz="1699" dirty="0">
                <a:solidFill>
                  <a:srgbClr val="000000"/>
                </a:solidFill>
                <a:latin typeface="Calibri (MS)"/>
                <a:ea typeface="Calibri (MS)"/>
                <a:cs typeface="Calibri (MS)"/>
                <a:sym typeface="Calibri (MS)"/>
              </a:rPr>
              <a:t>Provides tumor volume, subtype, and growth predictions</a:t>
            </a:r>
          </a:p>
          <a:p>
            <a:pPr algn="just">
              <a:lnSpc>
                <a:spcPts val="2039"/>
              </a:lnSpc>
            </a:pPr>
            <a:r>
              <a:rPr lang="en-US" sz="1699" dirty="0">
                <a:solidFill>
                  <a:srgbClr val="000000"/>
                </a:solidFill>
                <a:latin typeface="Calibri (MS)"/>
                <a:ea typeface="Calibri (MS)"/>
                <a:cs typeface="Calibri (MS)"/>
                <a:sym typeface="Calibri (MS)"/>
              </a:rPr>
              <a:t>Enhances treatment planning with consistent, unbiased results</a:t>
            </a:r>
          </a:p>
          <a:p>
            <a:pPr algn="just">
              <a:lnSpc>
                <a:spcPts val="2039"/>
              </a:lnSpc>
            </a:pPr>
            <a:r>
              <a:rPr lang="en-US" sz="1699" dirty="0">
                <a:solidFill>
                  <a:srgbClr val="000000"/>
                </a:solidFill>
                <a:latin typeface="Calibri (MS)"/>
                <a:ea typeface="Calibri (MS)"/>
                <a:cs typeface="Calibri (MS)"/>
                <a:sym typeface="Calibri (MS)"/>
              </a:rPr>
              <a:t>Useful for early detection and surgical decision support</a:t>
            </a:r>
          </a:p>
          <a:p>
            <a:pPr algn="just">
              <a:lnSpc>
                <a:spcPts val="2039"/>
              </a:lnSpc>
            </a:pPr>
            <a:endParaRPr lang="en-US" sz="1699" dirty="0">
              <a:solidFill>
                <a:srgbClr val="000000"/>
              </a:solidFill>
              <a:latin typeface="Calibri (MS)"/>
              <a:ea typeface="Calibri (MS)"/>
              <a:cs typeface="Calibri (MS)"/>
              <a:sym typeface="Calibri (M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19050"/>
              <a:ext cx="11704320" cy="1644650"/>
            </a:xfrm>
            <a:prstGeom prst="rect">
              <a:avLst/>
            </a:prstGeom>
          </p:spPr>
          <p:txBody>
            <a:bodyPr lIns="0" tIns="0" rIns="0" bIns="0" rtlCol="0" anchor="ctr"/>
            <a:lstStyle/>
            <a:p>
              <a:pPr algn="ctr">
                <a:lnSpc>
                  <a:spcPts val="5120"/>
                </a:lnSpc>
              </a:pPr>
              <a:r>
                <a:rPr lang="en-US" sz="4266">
                  <a:solidFill>
                    <a:srgbClr val="FF0000"/>
                  </a:solidFill>
                  <a:latin typeface="Times New Roman"/>
                  <a:ea typeface="Times New Roman"/>
                  <a:cs typeface="Times New Roman"/>
                  <a:sym typeface="Times New Roman"/>
                </a:rPr>
                <a:t>Conclusion</a:t>
              </a:r>
            </a:p>
          </p:txBody>
        </p:sp>
      </p:grpSp>
      <p:sp>
        <p:nvSpPr>
          <p:cNvPr id="5" name="TextBox 5"/>
          <p:cNvSpPr txBox="1"/>
          <p:nvPr/>
        </p:nvSpPr>
        <p:spPr>
          <a:xfrm>
            <a:off x="579120" y="1733550"/>
            <a:ext cx="8595360" cy="4755304"/>
          </a:xfrm>
          <a:prstGeom prst="rect">
            <a:avLst/>
          </a:prstGeom>
        </p:spPr>
        <p:txBody>
          <a:bodyPr lIns="0" tIns="0" rIns="0" bIns="0" rtlCol="0" anchor="t">
            <a:spAutoFit/>
          </a:bodyPr>
          <a:lstStyle/>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The proposed system integrates segmentation, classification, and growth analysis into a single framework, enhancing diagnostic efficiency.</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By leveraging deep learning and radiomics, it minimizes manual effort and reduces diagnostic errors.</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The model supports early detection and monitoring of kidney tumors, enabling timely treatment.</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Future enhancements may include multi-organ analysis, integration with hospital PACS, and real-time clinical testing for broader adoption.</a:t>
            </a:r>
          </a:p>
          <a:p>
            <a:pPr marL="219637" lvl="1" indent="-109818" algn="l">
              <a:lnSpc>
                <a:spcPts val="2047"/>
              </a:lnSpc>
            </a:pPr>
            <a:endParaRPr lang="en-US" sz="1706">
              <a:solidFill>
                <a:srgbClr val="000000"/>
              </a:solidFill>
              <a:latin typeface="Times New Roman"/>
              <a:ea typeface="Times New Roman"/>
              <a:cs typeface="Times New Roman"/>
              <a:sym typeface="Times New Roman"/>
            </a:endParaRPr>
          </a:p>
        </p:txBody>
      </p:sp>
      <p:grpSp>
        <p:nvGrpSpPr>
          <p:cNvPr id="6" name="Group 6"/>
          <p:cNvGrpSpPr/>
          <p:nvPr/>
        </p:nvGrpSpPr>
        <p:grpSpPr>
          <a:xfrm>
            <a:off x="487680" y="6780107"/>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28575"/>
              <a:ext cx="3034453" cy="547864"/>
            </a:xfrm>
            <a:prstGeom prst="rect">
              <a:avLst/>
            </a:prstGeom>
          </p:spPr>
          <p:txBody>
            <a:bodyPr lIns="0" tIns="0" rIns="0" bIns="0" rtlCol="0" anchor="ctr"/>
            <a:lstStyle/>
            <a:p>
              <a:pPr algn="l">
                <a:lnSpc>
                  <a:spcPts val="1535"/>
                </a:lnSpc>
              </a:pPr>
              <a:r>
                <a:rPr lang="en-US" sz="1279">
                  <a:solidFill>
                    <a:srgbClr val="898989"/>
                  </a:solidFill>
                  <a:latin typeface="Calibri (MS)"/>
                  <a:ea typeface="Calibri (MS)"/>
                  <a:cs typeface="Calibri (MS)"/>
                  <a:sym typeface="Calibri (MS)"/>
                </a:rPr>
                <a:t>24/11/2025</a:t>
              </a:r>
            </a:p>
          </p:txBody>
        </p:sp>
      </p:grpSp>
      <p:grpSp>
        <p:nvGrpSpPr>
          <p:cNvPr id="9" name="Group 9"/>
          <p:cNvGrpSpPr/>
          <p:nvPr/>
        </p:nvGrpSpPr>
        <p:grpSpPr>
          <a:xfrm>
            <a:off x="3332480" y="6780107"/>
            <a:ext cx="3088640" cy="389467"/>
            <a:chOff x="0" y="0"/>
            <a:chExt cx="4118187" cy="519289"/>
          </a:xfrm>
        </p:grpSpPr>
        <p:sp>
          <p:nvSpPr>
            <p:cNvPr id="10" name="Freeform 10"/>
            <p:cNvSpPr/>
            <p:nvPr/>
          </p:nvSpPr>
          <p:spPr>
            <a:xfrm>
              <a:off x="0" y="0"/>
              <a:ext cx="4118187" cy="519289"/>
            </a:xfrm>
            <a:custGeom>
              <a:avLst/>
              <a:gdLst/>
              <a:ahLst/>
              <a:cxnLst/>
              <a:rect l="l" t="t" r="r" b="b"/>
              <a:pathLst>
                <a:path w="4118187" h="519289">
                  <a:moveTo>
                    <a:pt x="0" y="0"/>
                  </a:moveTo>
                  <a:lnTo>
                    <a:pt x="4118187" y="0"/>
                  </a:lnTo>
                  <a:lnTo>
                    <a:pt x="4118187" y="519289"/>
                  </a:lnTo>
                  <a:lnTo>
                    <a:pt x="0" y="519289"/>
                  </a:lnTo>
                  <a:close/>
                </a:path>
              </a:pathLst>
            </a:custGeom>
            <a:solidFill>
              <a:srgbClr val="000000">
                <a:alpha val="0"/>
              </a:srgbClr>
            </a:solidFill>
          </p:spPr>
        </p:sp>
        <p:sp>
          <p:nvSpPr>
            <p:cNvPr id="11" name="TextBox 11"/>
            <p:cNvSpPr txBox="1"/>
            <p:nvPr/>
          </p:nvSpPr>
          <p:spPr>
            <a:xfrm>
              <a:off x="0" y="-28575"/>
              <a:ext cx="4118187" cy="547864"/>
            </a:xfrm>
            <a:prstGeom prst="rect">
              <a:avLst/>
            </a:prstGeom>
          </p:spPr>
          <p:txBody>
            <a:bodyPr lIns="0" tIns="0" rIns="0" bIns="0" rtlCol="0" anchor="ctr"/>
            <a:lstStyle/>
            <a:p>
              <a:pPr algn="ctr">
                <a:lnSpc>
                  <a:spcPts val="1535"/>
                </a:lnSpc>
              </a:pPr>
              <a:r>
                <a:rPr lang="en-US" sz="1279">
                  <a:solidFill>
                    <a:srgbClr val="898989"/>
                  </a:solidFill>
                  <a:latin typeface="Calibri (MS)"/>
                  <a:ea typeface="Calibri (MS)"/>
                  <a:cs typeface="Calibri (MS)"/>
                  <a:sym typeface="Calibri (MS)"/>
                </a:rPr>
                <a:t>Mini Project -22CDS58</a:t>
              </a:r>
            </a:p>
          </p:txBody>
        </p:sp>
      </p:grpSp>
      <p:grpSp>
        <p:nvGrpSpPr>
          <p:cNvPr id="12" name="Group 12"/>
          <p:cNvGrpSpPr/>
          <p:nvPr/>
        </p:nvGrpSpPr>
        <p:grpSpPr>
          <a:xfrm>
            <a:off x="6990080" y="6780107"/>
            <a:ext cx="2275840" cy="389467"/>
            <a:chOff x="0" y="0"/>
            <a:chExt cx="3034453" cy="519289"/>
          </a:xfrm>
        </p:grpSpPr>
        <p:sp>
          <p:nvSpPr>
            <p:cNvPr id="13" name="Freeform 13"/>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14" name="TextBox 14"/>
            <p:cNvSpPr txBox="1"/>
            <p:nvPr/>
          </p:nvSpPr>
          <p:spPr>
            <a:xfrm>
              <a:off x="0" y="-28575"/>
              <a:ext cx="3034453" cy="547864"/>
            </a:xfrm>
            <a:prstGeom prst="rect">
              <a:avLst/>
            </a:prstGeom>
          </p:spPr>
          <p:txBody>
            <a:bodyPr lIns="0" tIns="0" rIns="0" bIns="0" rtlCol="0" anchor="ctr"/>
            <a:lstStyle/>
            <a:p>
              <a:pPr algn="r">
                <a:lnSpc>
                  <a:spcPts val="1535"/>
                </a:lnSpc>
              </a:pPr>
              <a:r>
                <a:rPr lang="en-US" sz="1279">
                  <a:solidFill>
                    <a:srgbClr val="898989"/>
                  </a:solidFill>
                  <a:latin typeface="Calibri (MS)"/>
                  <a:ea typeface="Calibri (MS)"/>
                  <a:cs typeface="Calibri (MS)"/>
                  <a:sym typeface="Calibri (MS)"/>
                </a:rPr>
                <a:t>10</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43840" y="321420"/>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95250"/>
              <a:ext cx="11704320" cy="1720850"/>
            </a:xfrm>
            <a:prstGeom prst="rect">
              <a:avLst/>
            </a:prstGeom>
          </p:spPr>
          <p:txBody>
            <a:bodyPr lIns="0" tIns="0" rIns="0" bIns="0" rtlCol="0" anchor="ctr"/>
            <a:lstStyle/>
            <a:p>
              <a:pPr algn="ctr">
                <a:lnSpc>
                  <a:spcPts val="5631"/>
                </a:lnSpc>
              </a:pPr>
              <a:r>
                <a:rPr lang="en-US" sz="4693">
                  <a:solidFill>
                    <a:srgbClr val="000000"/>
                  </a:solidFill>
                  <a:latin typeface="Calibri (MS)"/>
                  <a:ea typeface="Calibri (MS)"/>
                  <a:cs typeface="Calibri (MS)"/>
                  <a:sym typeface="Calibri (MS)"/>
                </a:rPr>
                <a:t> </a:t>
              </a:r>
              <a:r>
                <a:rPr lang="en-US" sz="4693">
                  <a:solidFill>
                    <a:srgbClr val="FF0000"/>
                  </a:solidFill>
                  <a:latin typeface="Calibri (MS)"/>
                  <a:ea typeface="Calibri (MS)"/>
                  <a:cs typeface="Calibri (MS)"/>
                  <a:sym typeface="Calibri (MS)"/>
                </a:rPr>
                <a:t>Future Work</a:t>
              </a:r>
            </a:p>
          </p:txBody>
        </p:sp>
      </p:grpSp>
      <p:sp>
        <p:nvSpPr>
          <p:cNvPr id="5" name="TextBox 5"/>
          <p:cNvSpPr txBox="1"/>
          <p:nvPr/>
        </p:nvSpPr>
        <p:spPr>
          <a:xfrm>
            <a:off x="579120" y="1714500"/>
            <a:ext cx="8595360" cy="5286375"/>
          </a:xfrm>
          <a:prstGeom prst="rect">
            <a:avLst/>
          </a:prstGeom>
        </p:spPr>
        <p:txBody>
          <a:bodyPr lIns="0" tIns="0" rIns="0" bIns="0" rtlCol="0" anchor="t">
            <a:spAutoFit/>
          </a:bodyPr>
          <a:lstStyle/>
          <a:p>
            <a:pPr algn="l">
              <a:lnSpc>
                <a:spcPts val="2176"/>
              </a:lnSpc>
            </a:pPr>
            <a:r>
              <a:rPr lang="en-US" sz="1813">
                <a:solidFill>
                  <a:srgbClr val="000000"/>
                </a:solidFill>
                <a:latin typeface="Calibri (MS)"/>
                <a:ea typeface="Calibri (MS)"/>
                <a:cs typeface="Calibri (MS)"/>
                <a:sym typeface="Calibri (MS)"/>
              </a:rPr>
              <a:t>Short-term Improvements</a:t>
            </a:r>
          </a:p>
          <a:p>
            <a:pPr algn="l">
              <a:lnSpc>
                <a:spcPts val="2176"/>
              </a:lnSpc>
            </a:pPr>
            <a:r>
              <a:rPr lang="en-US" sz="1813">
                <a:solidFill>
                  <a:srgbClr val="000000"/>
                </a:solidFill>
                <a:latin typeface="Calibri (MS)"/>
                <a:ea typeface="Calibri (MS)"/>
                <a:cs typeface="Calibri (MS)"/>
                <a:sym typeface="Calibri (MS)"/>
              </a:rPr>
              <a:t>Model Enhancements:</a:t>
            </a:r>
          </a:p>
          <a:p>
            <a:pPr marL="233292" lvl="1" indent="-116646" algn="l">
              <a:lnSpc>
                <a:spcPts val="2176"/>
              </a:lnSpc>
              <a:buFont typeface="Arial"/>
              <a:buChar char="•"/>
            </a:pPr>
            <a:r>
              <a:rPr lang="en-US" sz="1813">
                <a:solidFill>
                  <a:srgbClr val="000000"/>
                </a:solidFill>
                <a:latin typeface="Calibri (MS)"/>
                <a:ea typeface="Calibri (MS)"/>
                <a:cs typeface="Calibri (MS)"/>
                <a:sym typeface="Calibri (MS)"/>
              </a:rPr>
              <a:t>Implement ensemble methods (3-5 models)</a:t>
            </a:r>
          </a:p>
          <a:p>
            <a:pPr marL="233292" lvl="1" indent="-116646" algn="l">
              <a:lnSpc>
                <a:spcPts val="2176"/>
              </a:lnSpc>
              <a:buFont typeface="Arial"/>
              <a:buChar char="•"/>
            </a:pPr>
            <a:r>
              <a:rPr lang="en-US" sz="1813">
                <a:solidFill>
                  <a:srgbClr val="000000"/>
                </a:solidFill>
                <a:latin typeface="Calibri (MS)"/>
                <a:ea typeface="Calibri (MS)"/>
                <a:cs typeface="Calibri (MS)"/>
                <a:sym typeface="Calibri (MS)"/>
              </a:rPr>
              <a:t>Add uncertainty quantification</a:t>
            </a:r>
          </a:p>
          <a:p>
            <a:pPr marL="233292" lvl="1" indent="-116646" algn="l">
              <a:lnSpc>
                <a:spcPts val="2176"/>
              </a:lnSpc>
              <a:buFont typeface="Arial"/>
              <a:buChar char="•"/>
            </a:pPr>
            <a:r>
              <a:rPr lang="en-US" sz="1813">
                <a:solidFill>
                  <a:srgbClr val="000000"/>
                </a:solidFill>
                <a:latin typeface="Calibri (MS)"/>
                <a:ea typeface="Calibri (MS)"/>
                <a:cs typeface="Calibri (MS)"/>
                <a:sym typeface="Calibri (MS)"/>
              </a:rPr>
              <a:t>Train on KiTS21 (300 cases)</a:t>
            </a:r>
          </a:p>
          <a:p>
            <a:pPr marL="233292" lvl="1" indent="-116646" algn="l">
              <a:lnSpc>
                <a:spcPts val="2176"/>
              </a:lnSpc>
              <a:buFont typeface="Arial"/>
              <a:buChar char="•"/>
            </a:pPr>
            <a:r>
              <a:rPr lang="en-US" sz="1813">
                <a:solidFill>
                  <a:srgbClr val="000000"/>
                </a:solidFill>
                <a:latin typeface="Calibri (MS)"/>
                <a:ea typeface="Calibri (MS)"/>
                <a:cs typeface="Calibri (MS)"/>
                <a:sym typeface="Calibri (MS)"/>
              </a:rPr>
              <a:t>Implement test-time augmentation</a:t>
            </a:r>
          </a:p>
          <a:p>
            <a:pPr algn="l">
              <a:lnSpc>
                <a:spcPts val="2176"/>
              </a:lnSpc>
            </a:pPr>
            <a:endParaRPr lang="en-US" sz="1813">
              <a:solidFill>
                <a:srgbClr val="000000"/>
              </a:solidFill>
              <a:latin typeface="Calibri (MS)"/>
              <a:ea typeface="Calibri (MS)"/>
              <a:cs typeface="Calibri (MS)"/>
              <a:sym typeface="Calibri (MS)"/>
            </a:endParaRPr>
          </a:p>
          <a:p>
            <a:pPr algn="l">
              <a:lnSpc>
                <a:spcPts val="2176"/>
              </a:lnSpc>
            </a:pPr>
            <a:r>
              <a:rPr lang="en-US" sz="1813">
                <a:solidFill>
                  <a:srgbClr val="000000"/>
                </a:solidFill>
                <a:latin typeface="Calibri (MS)"/>
                <a:ea typeface="Calibri (MS)"/>
                <a:cs typeface="Calibri (MS)"/>
                <a:sym typeface="Calibri (MS)"/>
              </a:rPr>
              <a:t>Feature Additions:</a:t>
            </a:r>
          </a:p>
          <a:p>
            <a:pPr marL="233292" lvl="1" indent="-116646" algn="l">
              <a:lnSpc>
                <a:spcPts val="2176"/>
              </a:lnSpc>
              <a:buFont typeface="Arial"/>
              <a:buChar char="•"/>
            </a:pPr>
            <a:r>
              <a:rPr lang="en-US" sz="1813">
                <a:solidFill>
                  <a:srgbClr val="000000"/>
                </a:solidFill>
                <a:latin typeface="Calibri (MS)"/>
                <a:ea typeface="Calibri (MS)"/>
                <a:cs typeface="Calibri (MS)"/>
                <a:sym typeface="Calibri (MS)"/>
              </a:rPr>
              <a:t>Multi-phase CT analysis (arterial, venous, delayed)</a:t>
            </a:r>
          </a:p>
          <a:p>
            <a:pPr marL="233292" lvl="1" indent="-116646" algn="l">
              <a:lnSpc>
                <a:spcPts val="2176"/>
              </a:lnSpc>
              <a:buFont typeface="Arial"/>
              <a:buChar char="•"/>
            </a:pPr>
            <a:r>
              <a:rPr lang="en-US" sz="1813">
                <a:solidFill>
                  <a:srgbClr val="000000"/>
                </a:solidFill>
                <a:latin typeface="Calibri (MS)"/>
                <a:ea typeface="Calibri (MS)"/>
                <a:cs typeface="Calibri (MS)"/>
                <a:sym typeface="Calibri (MS)"/>
              </a:rPr>
              <a:t>3D visualization with VTK.js</a:t>
            </a:r>
          </a:p>
          <a:p>
            <a:pPr marL="233292" lvl="1" indent="-116646" algn="l">
              <a:lnSpc>
                <a:spcPts val="2176"/>
              </a:lnSpc>
              <a:buFont typeface="Arial"/>
              <a:buChar char="•"/>
            </a:pPr>
            <a:r>
              <a:rPr lang="en-US" sz="1813">
                <a:solidFill>
                  <a:srgbClr val="000000"/>
                </a:solidFill>
                <a:latin typeface="Calibri (MS)"/>
                <a:ea typeface="Calibri (MS)"/>
                <a:cs typeface="Calibri (MS)"/>
                <a:sym typeface="Calibri (MS)"/>
              </a:rPr>
              <a:t>Automated PDF report generation</a:t>
            </a:r>
          </a:p>
          <a:p>
            <a:pPr marL="233292" lvl="1" indent="-116646" algn="l">
              <a:lnSpc>
                <a:spcPts val="2176"/>
              </a:lnSpc>
              <a:buFont typeface="Arial"/>
              <a:buChar char="•"/>
            </a:pPr>
            <a:r>
              <a:rPr lang="en-US" sz="1813">
                <a:solidFill>
                  <a:srgbClr val="000000"/>
                </a:solidFill>
                <a:latin typeface="Calibri (MS)"/>
                <a:ea typeface="Calibri (MS)"/>
                <a:cs typeface="Calibri (MS)"/>
                <a:sym typeface="Calibri (MS)"/>
              </a:rPr>
              <a:t>DICOM viewer integration</a:t>
            </a:r>
          </a:p>
          <a:p>
            <a:pPr algn="l">
              <a:lnSpc>
                <a:spcPts val="2176"/>
              </a:lnSpc>
            </a:pPr>
            <a:endParaRPr lang="en-US" sz="1813">
              <a:solidFill>
                <a:srgbClr val="000000"/>
              </a:solidFill>
              <a:latin typeface="Calibri (MS)"/>
              <a:ea typeface="Calibri (MS)"/>
              <a:cs typeface="Calibri (MS)"/>
              <a:sym typeface="Calibri (MS)"/>
            </a:endParaRPr>
          </a:p>
          <a:p>
            <a:pPr algn="l">
              <a:lnSpc>
                <a:spcPts val="2176"/>
              </a:lnSpc>
            </a:pPr>
            <a:r>
              <a:rPr lang="en-US" sz="1813">
                <a:solidFill>
                  <a:srgbClr val="000000"/>
                </a:solidFill>
                <a:latin typeface="Calibri (MS)"/>
                <a:ea typeface="Calibri (MS)"/>
                <a:cs typeface="Calibri (MS)"/>
                <a:sym typeface="Calibri (MS)"/>
              </a:rPr>
              <a:t>Performance:</a:t>
            </a:r>
          </a:p>
          <a:p>
            <a:pPr marL="233292" lvl="1" indent="-116646" algn="l">
              <a:lnSpc>
                <a:spcPts val="2176"/>
              </a:lnSpc>
              <a:buFont typeface="Arial"/>
              <a:buChar char="•"/>
            </a:pPr>
            <a:r>
              <a:rPr lang="en-US" sz="1813">
                <a:solidFill>
                  <a:srgbClr val="000000"/>
                </a:solidFill>
                <a:latin typeface="Calibri (MS)"/>
                <a:ea typeface="Calibri (MS)"/>
                <a:cs typeface="Calibri (MS)"/>
                <a:sym typeface="Calibri (MS)"/>
              </a:rPr>
              <a:t>Model quantization for faster inference</a:t>
            </a:r>
          </a:p>
          <a:p>
            <a:pPr marL="233292" lvl="1" indent="-116646" algn="l">
              <a:lnSpc>
                <a:spcPts val="2176"/>
              </a:lnSpc>
              <a:buFont typeface="Arial"/>
              <a:buChar char="•"/>
            </a:pPr>
            <a:r>
              <a:rPr lang="en-US" sz="1813">
                <a:solidFill>
                  <a:srgbClr val="000000"/>
                </a:solidFill>
                <a:latin typeface="Calibri (MS)"/>
                <a:ea typeface="Calibri (MS)"/>
                <a:cs typeface="Calibri (MS)"/>
                <a:sym typeface="Calibri (MS)"/>
              </a:rPr>
              <a:t>ONNX export for cross-platform deployment</a:t>
            </a:r>
          </a:p>
          <a:p>
            <a:pPr marL="233292" lvl="1" indent="-116646" algn="l">
              <a:lnSpc>
                <a:spcPts val="2176"/>
              </a:lnSpc>
              <a:buFont typeface="Arial"/>
              <a:buChar char="•"/>
            </a:pPr>
            <a:r>
              <a:rPr lang="en-US" sz="1813">
                <a:solidFill>
                  <a:srgbClr val="000000"/>
                </a:solidFill>
                <a:latin typeface="Calibri (MS)"/>
                <a:ea typeface="Calibri (MS)"/>
                <a:cs typeface="Calibri (MS)"/>
                <a:sym typeface="Calibri (MS)"/>
              </a:rPr>
              <a:t>Batch processing for multiple scans</a:t>
            </a:r>
          </a:p>
          <a:p>
            <a:pPr marL="233292" lvl="1" indent="-116646" algn="l">
              <a:lnSpc>
                <a:spcPts val="2176"/>
              </a:lnSpc>
              <a:buFont typeface="Arial"/>
              <a:buChar char="•"/>
            </a:pPr>
            <a:r>
              <a:rPr lang="en-US" sz="1813">
                <a:solidFill>
                  <a:srgbClr val="000000"/>
                </a:solidFill>
                <a:latin typeface="Calibri (MS)"/>
                <a:ea typeface="Calibri (MS)"/>
                <a:cs typeface="Calibri (MS)"/>
                <a:sym typeface="Calibri (MS)"/>
              </a:rPr>
              <a:t>GPU optimization (TensorRT)</a:t>
            </a:r>
          </a:p>
          <a:p>
            <a:pPr algn="l">
              <a:lnSpc>
                <a:spcPts val="2176"/>
              </a:lnSpc>
            </a:pPr>
            <a:endParaRPr lang="en-US" sz="1813">
              <a:solidFill>
                <a:srgbClr val="000000"/>
              </a:solidFill>
              <a:latin typeface="Calibri (MS)"/>
              <a:ea typeface="Calibri (MS)"/>
              <a:cs typeface="Calibri (MS)"/>
              <a:sym typeface="Calibri (M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6720" y="865140"/>
            <a:ext cx="8595360" cy="4905375"/>
          </a:xfrm>
          <a:prstGeom prst="rect">
            <a:avLst/>
          </a:prstGeom>
        </p:spPr>
        <p:txBody>
          <a:bodyPr lIns="0" tIns="0" rIns="0" bIns="0" rtlCol="0" anchor="t">
            <a:spAutoFit/>
          </a:bodyPr>
          <a:lstStyle/>
          <a:p>
            <a:pPr algn="l">
              <a:lnSpc>
                <a:spcPts val="2056"/>
              </a:lnSpc>
            </a:pPr>
            <a:r>
              <a:rPr lang="en-US" sz="1713">
                <a:solidFill>
                  <a:srgbClr val="000000"/>
                </a:solidFill>
                <a:latin typeface="Times New Roman"/>
                <a:ea typeface="Times New Roman"/>
                <a:cs typeface="Times New Roman"/>
                <a:sym typeface="Times New Roman"/>
              </a:rPr>
              <a:t> Long-term Vision</a:t>
            </a:r>
          </a:p>
          <a:p>
            <a:pPr marL="220427" lvl="1" indent="-110214" algn="l">
              <a:lnSpc>
                <a:spcPts val="2056"/>
              </a:lnSpc>
              <a:buFont typeface="Arial"/>
              <a:buChar char="•"/>
            </a:pPr>
            <a:r>
              <a:rPr lang="en-US" sz="1713">
                <a:solidFill>
                  <a:srgbClr val="000000"/>
                </a:solidFill>
                <a:latin typeface="Times New Roman"/>
                <a:ea typeface="Times New Roman"/>
                <a:cs typeface="Times New Roman"/>
                <a:sym typeface="Times New Roman"/>
              </a:rPr>
              <a:t>Clinical Integration:</a:t>
            </a:r>
          </a:p>
          <a:p>
            <a:pPr marL="220427" lvl="1" indent="-110214" algn="l">
              <a:lnSpc>
                <a:spcPts val="2056"/>
              </a:lnSpc>
              <a:buFont typeface="Arial"/>
              <a:buChar char="•"/>
            </a:pPr>
            <a:r>
              <a:rPr lang="en-US" sz="1713">
                <a:solidFill>
                  <a:srgbClr val="000000"/>
                </a:solidFill>
                <a:latin typeface="Times New Roman"/>
                <a:ea typeface="Times New Roman"/>
                <a:cs typeface="Times New Roman"/>
                <a:sym typeface="Times New Roman"/>
              </a:rPr>
              <a:t>HL7 FHIR integration for EMR systems</a:t>
            </a:r>
          </a:p>
          <a:p>
            <a:pPr marL="220427" lvl="1" indent="-110214" algn="l">
              <a:lnSpc>
                <a:spcPts val="2056"/>
              </a:lnSpc>
              <a:buFont typeface="Arial"/>
              <a:buChar char="•"/>
            </a:pPr>
            <a:r>
              <a:rPr lang="en-US" sz="1713">
                <a:solidFill>
                  <a:srgbClr val="000000"/>
                </a:solidFill>
                <a:latin typeface="Times New Roman"/>
                <a:ea typeface="Times New Roman"/>
                <a:cs typeface="Times New Roman"/>
                <a:sym typeface="Times New Roman"/>
              </a:rPr>
              <a:t>PACS integration for direct scan access</a:t>
            </a:r>
          </a:p>
          <a:p>
            <a:pPr marL="220427" lvl="1" indent="-110214" algn="l">
              <a:lnSpc>
                <a:spcPts val="2056"/>
              </a:lnSpc>
              <a:buFont typeface="Arial"/>
              <a:buChar char="•"/>
            </a:pPr>
            <a:r>
              <a:rPr lang="en-US" sz="1713">
                <a:solidFill>
                  <a:srgbClr val="000000"/>
                </a:solidFill>
                <a:latin typeface="Times New Roman"/>
                <a:ea typeface="Times New Roman"/>
                <a:cs typeface="Times New Roman"/>
                <a:sym typeface="Times New Roman"/>
              </a:rPr>
              <a:t>Multi-institutional validation</a:t>
            </a:r>
          </a:p>
          <a:p>
            <a:pPr marL="220427" lvl="1" indent="-110214" algn="l">
              <a:lnSpc>
                <a:spcPts val="2056"/>
              </a:lnSpc>
              <a:buFont typeface="Arial"/>
              <a:buChar char="•"/>
            </a:pPr>
            <a:r>
              <a:rPr lang="en-US" sz="1713">
                <a:solidFill>
                  <a:srgbClr val="000000"/>
                </a:solidFill>
                <a:latin typeface="Times New Roman"/>
                <a:ea typeface="Times New Roman"/>
                <a:cs typeface="Times New Roman"/>
                <a:sym typeface="Times New Roman"/>
              </a:rPr>
              <a:t>FDA clearance pathway</a:t>
            </a:r>
          </a:p>
          <a:p>
            <a:pPr algn="l">
              <a:lnSpc>
                <a:spcPts val="2056"/>
              </a:lnSpc>
            </a:pPr>
            <a:endParaRPr lang="en-US" sz="1713">
              <a:solidFill>
                <a:srgbClr val="000000"/>
              </a:solidFill>
              <a:latin typeface="Times New Roman"/>
              <a:ea typeface="Times New Roman"/>
              <a:cs typeface="Times New Roman"/>
              <a:sym typeface="Times New Roman"/>
            </a:endParaRPr>
          </a:p>
          <a:p>
            <a:pPr algn="l">
              <a:lnSpc>
                <a:spcPts val="2056"/>
              </a:lnSpc>
            </a:pPr>
            <a:r>
              <a:rPr lang="en-US" sz="1713">
                <a:solidFill>
                  <a:srgbClr val="000000"/>
                </a:solidFill>
                <a:latin typeface="Times New Roman"/>
                <a:ea typeface="Times New Roman"/>
                <a:cs typeface="Times New Roman"/>
                <a:sym typeface="Times New Roman"/>
              </a:rPr>
              <a:t>Advanced AI:</a:t>
            </a:r>
          </a:p>
          <a:p>
            <a:pPr marL="220427" lvl="1" indent="-110214" algn="l">
              <a:lnSpc>
                <a:spcPts val="2056"/>
              </a:lnSpc>
              <a:buFont typeface="Arial"/>
              <a:buChar char="•"/>
            </a:pPr>
            <a:r>
              <a:rPr lang="en-US" sz="1713">
                <a:solidFill>
                  <a:srgbClr val="000000"/>
                </a:solidFill>
                <a:latin typeface="Times New Roman"/>
                <a:ea typeface="Times New Roman"/>
                <a:cs typeface="Times New Roman"/>
                <a:sym typeface="Times New Roman"/>
              </a:rPr>
              <a:t>Transformer-based architectures</a:t>
            </a:r>
          </a:p>
          <a:p>
            <a:pPr marL="220427" lvl="1" indent="-110214" algn="l">
              <a:lnSpc>
                <a:spcPts val="2056"/>
              </a:lnSpc>
              <a:buFont typeface="Arial"/>
              <a:buChar char="•"/>
            </a:pPr>
            <a:r>
              <a:rPr lang="en-US" sz="1713">
                <a:solidFill>
                  <a:srgbClr val="000000"/>
                </a:solidFill>
                <a:latin typeface="Times New Roman"/>
                <a:ea typeface="Times New Roman"/>
                <a:cs typeface="Times New Roman"/>
                <a:sym typeface="Times New Roman"/>
              </a:rPr>
              <a:t>Few-shot learning for rare tumor types</a:t>
            </a:r>
          </a:p>
          <a:p>
            <a:pPr marL="220427" lvl="1" indent="-110214" algn="l">
              <a:lnSpc>
                <a:spcPts val="2056"/>
              </a:lnSpc>
              <a:buFont typeface="Arial"/>
              <a:buChar char="•"/>
            </a:pPr>
            <a:r>
              <a:rPr lang="en-US" sz="1713">
                <a:solidFill>
                  <a:srgbClr val="000000"/>
                </a:solidFill>
                <a:latin typeface="Times New Roman"/>
                <a:ea typeface="Times New Roman"/>
                <a:cs typeface="Times New Roman"/>
                <a:sym typeface="Times New Roman"/>
              </a:rPr>
              <a:t>Weakly-supervised learning</a:t>
            </a:r>
          </a:p>
          <a:p>
            <a:pPr marL="220427" lvl="1" indent="-110214" algn="l">
              <a:lnSpc>
                <a:spcPts val="2056"/>
              </a:lnSpc>
              <a:buFont typeface="Arial"/>
              <a:buChar char="•"/>
            </a:pPr>
            <a:r>
              <a:rPr lang="en-US" sz="1713">
                <a:solidFill>
                  <a:srgbClr val="000000"/>
                </a:solidFill>
                <a:latin typeface="Times New Roman"/>
                <a:ea typeface="Times New Roman"/>
                <a:cs typeface="Times New Roman"/>
                <a:sym typeface="Times New Roman"/>
              </a:rPr>
              <a:t>Explainable AI (GradCAM, SHAP)</a:t>
            </a:r>
          </a:p>
          <a:p>
            <a:pPr algn="l">
              <a:lnSpc>
                <a:spcPts val="2056"/>
              </a:lnSpc>
            </a:pPr>
            <a:endParaRPr lang="en-US" sz="1713">
              <a:solidFill>
                <a:srgbClr val="000000"/>
              </a:solidFill>
              <a:latin typeface="Times New Roman"/>
              <a:ea typeface="Times New Roman"/>
              <a:cs typeface="Times New Roman"/>
              <a:sym typeface="Times New Roman"/>
            </a:endParaRPr>
          </a:p>
          <a:p>
            <a:pPr algn="l">
              <a:lnSpc>
                <a:spcPts val="2056"/>
              </a:lnSpc>
            </a:pPr>
            <a:r>
              <a:rPr lang="en-US" sz="1713">
                <a:solidFill>
                  <a:srgbClr val="000000"/>
                </a:solidFill>
                <a:latin typeface="Times New Roman"/>
                <a:ea typeface="Times New Roman"/>
                <a:cs typeface="Times New Roman"/>
                <a:sym typeface="Times New Roman"/>
              </a:rPr>
              <a:t>Expanded Scope:</a:t>
            </a:r>
          </a:p>
          <a:p>
            <a:pPr marL="220427" lvl="1" indent="-110214" algn="l">
              <a:lnSpc>
                <a:spcPts val="2056"/>
              </a:lnSpc>
              <a:buFont typeface="Arial"/>
              <a:buChar char="•"/>
            </a:pPr>
            <a:r>
              <a:rPr lang="en-US" sz="1713">
                <a:solidFill>
                  <a:srgbClr val="000000"/>
                </a:solidFill>
                <a:latin typeface="Times New Roman"/>
                <a:ea typeface="Times New Roman"/>
                <a:cs typeface="Times New Roman"/>
                <a:sym typeface="Times New Roman"/>
              </a:rPr>
              <a:t>Liver tumor analysis</a:t>
            </a:r>
          </a:p>
          <a:p>
            <a:pPr marL="220427" lvl="1" indent="-110214" algn="l">
              <a:lnSpc>
                <a:spcPts val="2056"/>
              </a:lnSpc>
              <a:buFont typeface="Arial"/>
              <a:buChar char="•"/>
            </a:pPr>
            <a:r>
              <a:rPr lang="en-US" sz="1713">
                <a:solidFill>
                  <a:srgbClr val="000000"/>
                </a:solidFill>
                <a:latin typeface="Times New Roman"/>
                <a:ea typeface="Times New Roman"/>
                <a:cs typeface="Times New Roman"/>
                <a:sym typeface="Times New Roman"/>
              </a:rPr>
              <a:t>Lung nodule detection</a:t>
            </a:r>
          </a:p>
          <a:p>
            <a:pPr marL="220427" lvl="1" indent="-110214" algn="l">
              <a:lnSpc>
                <a:spcPts val="2056"/>
              </a:lnSpc>
              <a:buFont typeface="Arial"/>
              <a:buChar char="•"/>
            </a:pPr>
            <a:r>
              <a:rPr lang="en-US" sz="1713">
                <a:solidFill>
                  <a:srgbClr val="000000"/>
                </a:solidFill>
                <a:latin typeface="Times New Roman"/>
                <a:ea typeface="Times New Roman"/>
                <a:cs typeface="Times New Roman"/>
                <a:sym typeface="Times New Roman"/>
              </a:rPr>
              <a:t>Multi-organ cancer screening</a:t>
            </a:r>
          </a:p>
          <a:p>
            <a:pPr marL="220427" lvl="1" indent="-110214" algn="l">
              <a:lnSpc>
                <a:spcPts val="2056"/>
              </a:lnSpc>
              <a:buFont typeface="Arial"/>
              <a:buChar char="•"/>
            </a:pPr>
            <a:r>
              <a:rPr lang="en-US" sz="1713">
                <a:solidFill>
                  <a:srgbClr val="000000"/>
                </a:solidFill>
                <a:latin typeface="Times New Roman"/>
                <a:ea typeface="Times New Roman"/>
                <a:cs typeface="Times New Roman"/>
                <a:sym typeface="Times New Roman"/>
              </a:rPr>
              <a:t>Treatment response prediction</a:t>
            </a:r>
          </a:p>
          <a:p>
            <a:pPr algn="l">
              <a:lnSpc>
                <a:spcPts val="2056"/>
              </a:lnSpc>
            </a:pPr>
            <a:endParaRPr lang="en-US" sz="1713">
              <a:solidFill>
                <a:srgbClr val="000000"/>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19050"/>
              <a:ext cx="11704320" cy="1644650"/>
            </a:xfrm>
            <a:prstGeom prst="rect">
              <a:avLst/>
            </a:prstGeom>
          </p:spPr>
          <p:txBody>
            <a:bodyPr lIns="0" tIns="0" rIns="0" bIns="0" rtlCol="0" anchor="ctr"/>
            <a:lstStyle/>
            <a:p>
              <a:pPr algn="ctr">
                <a:lnSpc>
                  <a:spcPts val="5120"/>
                </a:lnSpc>
              </a:pPr>
              <a:r>
                <a:rPr lang="en-US" sz="4266">
                  <a:solidFill>
                    <a:srgbClr val="FF0000"/>
                  </a:solidFill>
                  <a:latin typeface="Times New Roman"/>
                  <a:ea typeface="Times New Roman"/>
                  <a:cs typeface="Times New Roman"/>
                  <a:sym typeface="Times New Roman"/>
                </a:rPr>
                <a:t>References</a:t>
              </a:r>
            </a:p>
          </p:txBody>
        </p:sp>
      </p:grpSp>
      <p:sp>
        <p:nvSpPr>
          <p:cNvPr id="5" name="TextBox 5"/>
          <p:cNvSpPr txBox="1"/>
          <p:nvPr/>
        </p:nvSpPr>
        <p:spPr>
          <a:xfrm>
            <a:off x="579120" y="1733550"/>
            <a:ext cx="8595360" cy="4755304"/>
          </a:xfrm>
          <a:prstGeom prst="rect">
            <a:avLst/>
          </a:prstGeom>
        </p:spPr>
        <p:txBody>
          <a:bodyPr lIns="0" tIns="0" rIns="0" bIns="0" rtlCol="0" anchor="t">
            <a:spAutoFit/>
          </a:bodyPr>
          <a:lstStyle/>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Heller, N. et al. “The KiTS19 Challenge: Data and Evaluation for Kidney Tumor Segmentation”, arXiv preprint arXiv:1904.00445, 2019.</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Li, X. et al. “Deep Learning for Kidney Tumor Classification and Segmentation”, IEEE Access, 2021.</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Van Griethuysen, J. J. M. et al. “Computational Radiomics System to Decode the Radiographic Phenotype”, Cancer Research, 2017.</a:t>
            </a:r>
          </a:p>
          <a:p>
            <a:pPr marL="219637" lvl="1" indent="-109818" algn="just">
              <a:lnSpc>
                <a:spcPts val="2047"/>
              </a:lnSpc>
            </a:pPr>
            <a:endParaRPr lang="en-US" sz="1706">
              <a:solidFill>
                <a:srgbClr val="000000"/>
              </a:solidFill>
              <a:latin typeface="Times New Roman"/>
              <a:ea typeface="Times New Roman"/>
              <a:cs typeface="Times New Roman"/>
              <a:sym typeface="Times New Roman"/>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PyRadiomics – </a:t>
            </a:r>
            <a:r>
              <a:rPr lang="en-US" sz="1706" u="sng">
                <a:solidFill>
                  <a:srgbClr val="0000FF"/>
                </a:solidFill>
                <a:latin typeface="Times New Roman"/>
                <a:ea typeface="Times New Roman"/>
                <a:cs typeface="Times New Roman"/>
                <a:sym typeface="Times New Roman"/>
                <a:hlinkClick r:id="rId2" tooltip="https://pyradiomics.readthedocs.io/"/>
              </a:rPr>
              <a:t>pyradiomics.readthedocs.io</a:t>
            </a:r>
          </a:p>
          <a:p>
            <a:pPr marL="219637" lvl="1" indent="-109818" algn="just">
              <a:lnSpc>
                <a:spcPts val="2047"/>
              </a:lnSpc>
            </a:pPr>
            <a:endParaRPr lang="en-US" sz="1706" u="sng">
              <a:solidFill>
                <a:srgbClr val="0000FF"/>
              </a:solidFill>
              <a:latin typeface="Times New Roman"/>
              <a:ea typeface="Times New Roman"/>
              <a:cs typeface="Times New Roman"/>
              <a:sym typeface="Times New Roman"/>
              <a:hlinkClick r:id="rId2" tooltip="https://pyradiomics.readthedocs.io/"/>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Arterys Medical Imaging AI – </a:t>
            </a:r>
            <a:r>
              <a:rPr lang="en-US" sz="1706" u="sng">
                <a:solidFill>
                  <a:srgbClr val="0000FF"/>
                </a:solidFill>
                <a:latin typeface="Times New Roman"/>
                <a:ea typeface="Times New Roman"/>
                <a:cs typeface="Times New Roman"/>
                <a:sym typeface="Times New Roman"/>
                <a:hlinkClick r:id="rId3" tooltip="http://www.arterys.com/"/>
              </a:rPr>
              <a:t>www.arterys.com</a:t>
            </a:r>
          </a:p>
          <a:p>
            <a:pPr marL="219637" lvl="1" indent="-109818" algn="just">
              <a:lnSpc>
                <a:spcPts val="2047"/>
              </a:lnSpc>
            </a:pPr>
            <a:endParaRPr lang="en-US" sz="1706" u="sng">
              <a:solidFill>
                <a:srgbClr val="0000FF"/>
              </a:solidFill>
              <a:latin typeface="Times New Roman"/>
              <a:ea typeface="Times New Roman"/>
              <a:cs typeface="Times New Roman"/>
              <a:sym typeface="Times New Roman"/>
              <a:hlinkClick r:id="rId3" tooltip="http://www.arterys.com/"/>
            </a:endParaRPr>
          </a:p>
          <a:p>
            <a:pPr marL="219637" lvl="1" indent="-109818" algn="just">
              <a:lnSpc>
                <a:spcPts val="2047"/>
              </a:lnSpc>
              <a:buFont typeface="Arial"/>
              <a:buChar char="•"/>
            </a:pPr>
            <a:r>
              <a:rPr lang="en-US" sz="1706">
                <a:solidFill>
                  <a:srgbClr val="000000"/>
                </a:solidFill>
                <a:latin typeface="Times New Roman"/>
                <a:ea typeface="Times New Roman"/>
                <a:cs typeface="Times New Roman"/>
                <a:sym typeface="Times New Roman"/>
              </a:rPr>
              <a:t>Aidoc AI Radiology Platform – https://www.aidoc.com</a:t>
            </a:r>
          </a:p>
          <a:p>
            <a:pPr marL="219637" lvl="1" indent="-109818" algn="l">
              <a:lnSpc>
                <a:spcPts val="2047"/>
              </a:lnSpc>
            </a:pPr>
            <a:endParaRPr lang="en-US" sz="1706">
              <a:solidFill>
                <a:srgbClr val="000000"/>
              </a:solidFill>
              <a:latin typeface="Times New Roman"/>
              <a:ea typeface="Times New Roman"/>
              <a:cs typeface="Times New Roman"/>
              <a:sym typeface="Times New Roman"/>
            </a:endParaRPr>
          </a:p>
        </p:txBody>
      </p:sp>
      <p:grpSp>
        <p:nvGrpSpPr>
          <p:cNvPr id="6" name="Group 6"/>
          <p:cNvGrpSpPr/>
          <p:nvPr/>
        </p:nvGrpSpPr>
        <p:grpSpPr>
          <a:xfrm>
            <a:off x="487680" y="6780107"/>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28575"/>
              <a:ext cx="3034453" cy="547864"/>
            </a:xfrm>
            <a:prstGeom prst="rect">
              <a:avLst/>
            </a:prstGeom>
          </p:spPr>
          <p:txBody>
            <a:bodyPr lIns="0" tIns="0" rIns="0" bIns="0" rtlCol="0" anchor="ctr"/>
            <a:lstStyle/>
            <a:p>
              <a:pPr algn="l">
                <a:lnSpc>
                  <a:spcPts val="1535"/>
                </a:lnSpc>
              </a:pPr>
              <a:r>
                <a:rPr lang="en-US" sz="1279">
                  <a:solidFill>
                    <a:srgbClr val="898989"/>
                  </a:solidFill>
                  <a:latin typeface="Calibri (MS)"/>
                  <a:ea typeface="Calibri (MS)"/>
                  <a:cs typeface="Calibri (MS)"/>
                  <a:sym typeface="Calibri (MS)"/>
                </a:rPr>
                <a:t>24/11/2025</a:t>
              </a:r>
            </a:p>
          </p:txBody>
        </p:sp>
      </p:grpSp>
      <p:grpSp>
        <p:nvGrpSpPr>
          <p:cNvPr id="9" name="Group 9"/>
          <p:cNvGrpSpPr/>
          <p:nvPr/>
        </p:nvGrpSpPr>
        <p:grpSpPr>
          <a:xfrm>
            <a:off x="3332480" y="6780107"/>
            <a:ext cx="3088640" cy="389467"/>
            <a:chOff x="0" y="0"/>
            <a:chExt cx="4118187" cy="519289"/>
          </a:xfrm>
        </p:grpSpPr>
        <p:sp>
          <p:nvSpPr>
            <p:cNvPr id="10" name="Freeform 10"/>
            <p:cNvSpPr/>
            <p:nvPr/>
          </p:nvSpPr>
          <p:spPr>
            <a:xfrm>
              <a:off x="0" y="0"/>
              <a:ext cx="4118187" cy="519289"/>
            </a:xfrm>
            <a:custGeom>
              <a:avLst/>
              <a:gdLst/>
              <a:ahLst/>
              <a:cxnLst/>
              <a:rect l="l" t="t" r="r" b="b"/>
              <a:pathLst>
                <a:path w="4118187" h="519289">
                  <a:moveTo>
                    <a:pt x="0" y="0"/>
                  </a:moveTo>
                  <a:lnTo>
                    <a:pt x="4118187" y="0"/>
                  </a:lnTo>
                  <a:lnTo>
                    <a:pt x="4118187" y="519289"/>
                  </a:lnTo>
                  <a:lnTo>
                    <a:pt x="0" y="519289"/>
                  </a:lnTo>
                  <a:close/>
                </a:path>
              </a:pathLst>
            </a:custGeom>
            <a:solidFill>
              <a:srgbClr val="000000">
                <a:alpha val="0"/>
              </a:srgbClr>
            </a:solidFill>
          </p:spPr>
        </p:sp>
        <p:sp>
          <p:nvSpPr>
            <p:cNvPr id="11" name="TextBox 11"/>
            <p:cNvSpPr txBox="1"/>
            <p:nvPr/>
          </p:nvSpPr>
          <p:spPr>
            <a:xfrm>
              <a:off x="0" y="-28575"/>
              <a:ext cx="4118187" cy="547864"/>
            </a:xfrm>
            <a:prstGeom prst="rect">
              <a:avLst/>
            </a:prstGeom>
          </p:spPr>
          <p:txBody>
            <a:bodyPr lIns="0" tIns="0" rIns="0" bIns="0" rtlCol="0" anchor="ctr"/>
            <a:lstStyle/>
            <a:p>
              <a:pPr algn="ctr">
                <a:lnSpc>
                  <a:spcPts val="1535"/>
                </a:lnSpc>
              </a:pPr>
              <a:r>
                <a:rPr lang="en-US" sz="1279">
                  <a:solidFill>
                    <a:srgbClr val="898989"/>
                  </a:solidFill>
                  <a:latin typeface="Calibri (MS)"/>
                  <a:ea typeface="Calibri (MS)"/>
                  <a:cs typeface="Calibri (MS)"/>
                  <a:sym typeface="Calibri (MS)"/>
                </a:rPr>
                <a:t>Mini Project -22CDS58</a:t>
              </a:r>
            </a:p>
          </p:txBody>
        </p:sp>
      </p:grpSp>
      <p:grpSp>
        <p:nvGrpSpPr>
          <p:cNvPr id="12" name="Group 12"/>
          <p:cNvGrpSpPr/>
          <p:nvPr/>
        </p:nvGrpSpPr>
        <p:grpSpPr>
          <a:xfrm>
            <a:off x="6990080" y="6780107"/>
            <a:ext cx="2275840" cy="389467"/>
            <a:chOff x="0" y="0"/>
            <a:chExt cx="3034453" cy="519289"/>
          </a:xfrm>
        </p:grpSpPr>
        <p:sp>
          <p:nvSpPr>
            <p:cNvPr id="13" name="Freeform 13"/>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14" name="TextBox 14"/>
            <p:cNvSpPr txBox="1"/>
            <p:nvPr/>
          </p:nvSpPr>
          <p:spPr>
            <a:xfrm>
              <a:off x="0" y="-28575"/>
              <a:ext cx="3034453" cy="547864"/>
            </a:xfrm>
            <a:prstGeom prst="rect">
              <a:avLst/>
            </a:prstGeom>
          </p:spPr>
          <p:txBody>
            <a:bodyPr lIns="0" tIns="0" rIns="0" bIns="0" rtlCol="0" anchor="ctr"/>
            <a:lstStyle/>
            <a:p>
              <a:pPr algn="r">
                <a:lnSpc>
                  <a:spcPts val="1535"/>
                </a:lnSpc>
              </a:pPr>
              <a:r>
                <a:rPr lang="en-US" sz="1279">
                  <a:solidFill>
                    <a:srgbClr val="898989"/>
                  </a:solidFill>
                  <a:latin typeface="Calibri (MS)"/>
                  <a:ea typeface="Calibri (MS)"/>
                  <a:cs typeface="Calibri (MS)"/>
                  <a:sym typeface="Calibri (MS)"/>
                </a:rPr>
                <a:t>11</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6780107"/>
            <a:ext cx="2275840" cy="389467"/>
            <a:chOff x="0" y="0"/>
            <a:chExt cx="3034453" cy="519289"/>
          </a:xfrm>
        </p:grpSpPr>
        <p:sp>
          <p:nvSpPr>
            <p:cNvPr id="3" name="Freeform 3"/>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4" name="TextBox 4"/>
            <p:cNvSpPr txBox="1"/>
            <p:nvPr/>
          </p:nvSpPr>
          <p:spPr>
            <a:xfrm>
              <a:off x="0" y="-28575"/>
              <a:ext cx="3034453" cy="547864"/>
            </a:xfrm>
            <a:prstGeom prst="rect">
              <a:avLst/>
            </a:prstGeom>
          </p:spPr>
          <p:txBody>
            <a:bodyPr lIns="0" tIns="0" rIns="0" bIns="0" rtlCol="0" anchor="ctr"/>
            <a:lstStyle/>
            <a:p>
              <a:pPr algn="l">
                <a:lnSpc>
                  <a:spcPts val="1535"/>
                </a:lnSpc>
              </a:pPr>
              <a:r>
                <a:rPr lang="en-US" sz="1279">
                  <a:solidFill>
                    <a:srgbClr val="898989"/>
                  </a:solidFill>
                  <a:latin typeface="Calibri (MS)"/>
                  <a:ea typeface="Calibri (MS)"/>
                  <a:cs typeface="Calibri (MS)"/>
                  <a:sym typeface="Calibri (MS)"/>
                </a:rPr>
                <a:t>24/11/2025</a:t>
              </a:r>
            </a:p>
          </p:txBody>
        </p:sp>
      </p:grpSp>
      <p:grpSp>
        <p:nvGrpSpPr>
          <p:cNvPr id="5" name="Group 5"/>
          <p:cNvGrpSpPr/>
          <p:nvPr/>
        </p:nvGrpSpPr>
        <p:grpSpPr>
          <a:xfrm>
            <a:off x="3332480" y="6780107"/>
            <a:ext cx="3088640" cy="389467"/>
            <a:chOff x="0" y="0"/>
            <a:chExt cx="4118187" cy="519289"/>
          </a:xfrm>
        </p:grpSpPr>
        <p:sp>
          <p:nvSpPr>
            <p:cNvPr id="6" name="Freeform 6"/>
            <p:cNvSpPr/>
            <p:nvPr/>
          </p:nvSpPr>
          <p:spPr>
            <a:xfrm>
              <a:off x="0" y="0"/>
              <a:ext cx="4118187" cy="519289"/>
            </a:xfrm>
            <a:custGeom>
              <a:avLst/>
              <a:gdLst/>
              <a:ahLst/>
              <a:cxnLst/>
              <a:rect l="l" t="t" r="r" b="b"/>
              <a:pathLst>
                <a:path w="4118187" h="519289">
                  <a:moveTo>
                    <a:pt x="0" y="0"/>
                  </a:moveTo>
                  <a:lnTo>
                    <a:pt x="4118187" y="0"/>
                  </a:lnTo>
                  <a:lnTo>
                    <a:pt x="4118187" y="519289"/>
                  </a:lnTo>
                  <a:lnTo>
                    <a:pt x="0" y="519289"/>
                  </a:lnTo>
                  <a:close/>
                </a:path>
              </a:pathLst>
            </a:custGeom>
            <a:solidFill>
              <a:srgbClr val="000000">
                <a:alpha val="0"/>
              </a:srgbClr>
            </a:solidFill>
          </p:spPr>
        </p:sp>
        <p:sp>
          <p:nvSpPr>
            <p:cNvPr id="7" name="TextBox 7"/>
            <p:cNvSpPr txBox="1"/>
            <p:nvPr/>
          </p:nvSpPr>
          <p:spPr>
            <a:xfrm>
              <a:off x="0" y="-28575"/>
              <a:ext cx="4118187" cy="547864"/>
            </a:xfrm>
            <a:prstGeom prst="rect">
              <a:avLst/>
            </a:prstGeom>
          </p:spPr>
          <p:txBody>
            <a:bodyPr lIns="0" tIns="0" rIns="0" bIns="0" rtlCol="0" anchor="ctr"/>
            <a:lstStyle/>
            <a:p>
              <a:pPr algn="ctr">
                <a:lnSpc>
                  <a:spcPts val="1535"/>
                </a:lnSpc>
              </a:pPr>
              <a:r>
                <a:rPr lang="en-US" sz="1279">
                  <a:solidFill>
                    <a:srgbClr val="898989"/>
                  </a:solidFill>
                  <a:latin typeface="Calibri (MS)"/>
                  <a:ea typeface="Calibri (MS)"/>
                  <a:cs typeface="Calibri (MS)"/>
                  <a:sym typeface="Calibri (MS)"/>
                </a:rPr>
                <a:t>Mini Project -22CDS58</a:t>
              </a:r>
            </a:p>
          </p:txBody>
        </p:sp>
      </p:grpSp>
      <p:grpSp>
        <p:nvGrpSpPr>
          <p:cNvPr id="8" name="Group 8"/>
          <p:cNvGrpSpPr/>
          <p:nvPr/>
        </p:nvGrpSpPr>
        <p:grpSpPr>
          <a:xfrm>
            <a:off x="6990080" y="6780107"/>
            <a:ext cx="2275840" cy="389467"/>
            <a:chOff x="0" y="0"/>
            <a:chExt cx="3034453" cy="519289"/>
          </a:xfrm>
        </p:grpSpPr>
        <p:sp>
          <p:nvSpPr>
            <p:cNvPr id="9" name="Freeform 9"/>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10" name="TextBox 10"/>
            <p:cNvSpPr txBox="1"/>
            <p:nvPr/>
          </p:nvSpPr>
          <p:spPr>
            <a:xfrm>
              <a:off x="0" y="-28575"/>
              <a:ext cx="3034453" cy="547864"/>
            </a:xfrm>
            <a:prstGeom prst="rect">
              <a:avLst/>
            </a:prstGeom>
          </p:spPr>
          <p:txBody>
            <a:bodyPr lIns="0" tIns="0" rIns="0" bIns="0" rtlCol="0" anchor="ctr"/>
            <a:lstStyle/>
            <a:p>
              <a:pPr algn="r">
                <a:lnSpc>
                  <a:spcPts val="1535"/>
                </a:lnSpc>
              </a:pPr>
              <a:r>
                <a:rPr lang="en-US" sz="1279">
                  <a:solidFill>
                    <a:srgbClr val="898989"/>
                  </a:solidFill>
                  <a:latin typeface="Calibri (MS)"/>
                  <a:ea typeface="Calibri (MS)"/>
                  <a:cs typeface="Calibri (MS)"/>
                  <a:sym typeface="Calibri (MS)"/>
                </a:rPr>
                <a:t>12</a:t>
              </a:r>
            </a:p>
          </p:txBody>
        </p:sp>
      </p:grpSp>
      <p:sp>
        <p:nvSpPr>
          <p:cNvPr id="11" name="TextBox 11"/>
          <p:cNvSpPr txBox="1"/>
          <p:nvPr/>
        </p:nvSpPr>
        <p:spPr>
          <a:xfrm>
            <a:off x="3261360" y="1872615"/>
            <a:ext cx="3195071" cy="1017270"/>
          </a:xfrm>
          <a:prstGeom prst="rect">
            <a:avLst/>
          </a:prstGeom>
        </p:spPr>
        <p:txBody>
          <a:bodyPr lIns="0" tIns="0" rIns="0" bIns="0" rtlCol="0" anchor="t">
            <a:spAutoFit/>
          </a:bodyPr>
          <a:lstStyle/>
          <a:p>
            <a:pPr algn="ctr">
              <a:lnSpc>
                <a:spcPts val="6911"/>
              </a:lnSpc>
            </a:pPr>
            <a:r>
              <a:rPr lang="en-US" sz="5759" b="1">
                <a:gradFill>
                  <a:gsLst>
                    <a:gs pos="0">
                      <a:srgbClr val="FC7B79">
                        <a:alpha val="100000"/>
                      </a:srgbClr>
                    </a:gs>
                    <a:gs pos="75000">
                      <a:srgbClr val="D2403D">
                        <a:alpha val="100000"/>
                      </a:srgbClr>
                    </a:gs>
                    <a:gs pos="100000">
                      <a:srgbClr val="C20500">
                        <a:alpha val="100000"/>
                      </a:srgbClr>
                    </a:gs>
                  </a:gsLst>
                  <a:lin ang="5400000"/>
                </a:gradFill>
                <a:latin typeface="Calibri (MS) Bold"/>
                <a:ea typeface="Calibri (MS) Bold"/>
                <a:cs typeface="Calibri (MS) Bold"/>
                <a:sym typeface="Calibri (MS) Bold"/>
              </a:rPr>
              <a:t>Thank you</a:t>
            </a:r>
          </a:p>
        </p:txBody>
      </p:sp>
      <p:sp>
        <p:nvSpPr>
          <p:cNvPr id="12" name="TextBox 12"/>
          <p:cNvSpPr txBox="1"/>
          <p:nvPr/>
        </p:nvSpPr>
        <p:spPr>
          <a:xfrm>
            <a:off x="3098800" y="3660775"/>
            <a:ext cx="3556000" cy="1017270"/>
          </a:xfrm>
          <a:prstGeom prst="rect">
            <a:avLst/>
          </a:prstGeom>
        </p:spPr>
        <p:txBody>
          <a:bodyPr lIns="0" tIns="0" rIns="0" bIns="0" rtlCol="0" anchor="t">
            <a:spAutoFit/>
          </a:bodyPr>
          <a:lstStyle/>
          <a:p>
            <a:pPr algn="ctr">
              <a:lnSpc>
                <a:spcPts val="6911"/>
              </a:lnSpc>
            </a:pPr>
            <a:r>
              <a:rPr lang="en-US" sz="5759" b="1">
                <a:gradFill>
                  <a:gsLst>
                    <a:gs pos="0">
                      <a:srgbClr val="FC7B79">
                        <a:alpha val="100000"/>
                      </a:srgbClr>
                    </a:gs>
                    <a:gs pos="75000">
                      <a:srgbClr val="D2403D">
                        <a:alpha val="100000"/>
                      </a:srgbClr>
                    </a:gs>
                    <a:gs pos="100000">
                      <a:srgbClr val="C20500">
                        <a:alpha val="100000"/>
                      </a:srgbClr>
                    </a:gs>
                  </a:gsLst>
                  <a:lin ang="5400000"/>
                </a:gradFill>
                <a:latin typeface="Calibri (MS) Bold"/>
                <a:ea typeface="Calibri (MS) Bold"/>
                <a:cs typeface="Calibri (MS) Bold"/>
                <a:sym typeface="Calibri (MS) Bold"/>
              </a:rPr>
              <a:t>Queries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TotalTime>
  <Words>3155</Words>
  <Application>Microsoft Office PowerPoint</Application>
  <PresentationFormat>Custom</PresentationFormat>
  <Paragraphs>438</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 (MS)</vt:lpstr>
      <vt:lpstr>Times New Roman</vt:lpstr>
      <vt:lpstr>Calibri (MS) Bold</vt:lpstr>
      <vt:lpstr>Times New Roman Bold</vt:lpstr>
      <vt:lpstr>Calibri</vt:lpstr>
      <vt:lpstr>Office Theme</vt:lpstr>
      <vt:lpstr>DEPARTMENT OF COMPUTER SCIENCE &amp; ENGINEERING (DATA SCIENCE)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pptfinalmed.pptx</dc:title>
  <cp:lastModifiedBy>ramji yalamarthi</cp:lastModifiedBy>
  <cp:revision>3</cp:revision>
  <dcterms:created xsi:type="dcterms:W3CDTF">2006-08-16T00:00:00Z</dcterms:created>
  <dcterms:modified xsi:type="dcterms:W3CDTF">2025-11-24T10:29:54Z</dcterms:modified>
  <dc:identifier>DAG5h7VlrW0</dc:identifier>
</cp:coreProperties>
</file>